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230" y="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5800" b="1">
                <a:solidFill>
                  <a:srgbClr val="FFFFFF"/>
                </a:solidFill>
                <a:latin typeface="Segoe UI"/>
              </a:defRPr>
            </a:pPr>
            <a:r>
              <a:t>MedAssist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148840"/>
            <a:ext cx="2377440" cy="45720"/>
          </a:xfrm>
          <a:prstGeom prst="rect">
            <a:avLst/>
          </a:prstGeom>
          <a:solidFill>
            <a:srgbClr val="7FB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2331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100" b="0">
                <a:solidFill>
                  <a:srgbClr val="7FB3C8"/>
                </a:solidFill>
                <a:latin typeface="Segoe UI"/>
              </a:defRPr>
            </a:pPr>
            <a:r>
              <a:t>Assistant Médical Intelligent basé sur LLMOps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246120"/>
            <a:ext cx="3429000" cy="1600200"/>
          </a:xfrm>
          <a:prstGeom prst="roundRect">
            <a:avLst>
              <a:gd name="adj" fmla="val 8000"/>
            </a:avLst>
          </a:prstGeom>
          <a:solidFill>
            <a:srgbClr val="0D355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" y="34290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7FB3C8"/>
                </a:solidFill>
                <a:latin typeface="Segoe UI"/>
              </a:defRPr>
            </a:pPr>
            <a:r>
              <a:t>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376732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900" b="1">
                <a:solidFill>
                  <a:srgbClr val="FFFFFF"/>
                </a:solidFill>
                <a:latin typeface="Segoe UI"/>
              </a:defRPr>
            </a:pPr>
            <a:r>
              <a:t>Asclepius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42062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A8C4D0"/>
                </a:solidFill>
                <a:latin typeface="Segoe UI"/>
              </a:defRPr>
            </a:pPr>
            <a:r>
              <a:t>158 114 notes cliniques synthétiques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3246120"/>
            <a:ext cx="3429000" cy="1600200"/>
          </a:xfrm>
          <a:prstGeom prst="roundRect">
            <a:avLst>
              <a:gd name="adj" fmla="val 8000"/>
            </a:avLst>
          </a:prstGeom>
          <a:solidFill>
            <a:srgbClr val="0D355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81728" y="34290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7FB3C8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376732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900" b="1">
                <a:solidFill>
                  <a:srgbClr val="FFFFFF"/>
                </a:solidFill>
                <a:latin typeface="Segoe UI"/>
              </a:defRPr>
            </a:pPr>
            <a:r>
              <a:t>Pipeline RAG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42062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A8C4D0"/>
                </a:solidFill>
                <a:latin typeface="Segoe UI"/>
              </a:defRPr>
            </a:pPr>
            <a:r>
              <a:t>all-MiniLM · Qdrant · Claude (Anthropic)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3246120"/>
            <a:ext cx="3429000" cy="1600200"/>
          </a:xfrm>
          <a:prstGeom prst="roundRect">
            <a:avLst>
              <a:gd name="adj" fmla="val 8000"/>
            </a:avLst>
          </a:prstGeom>
          <a:solidFill>
            <a:srgbClr val="0D355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3608" y="34290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7FB3C8"/>
                </a:solidFill>
                <a:latin typeface="Segoe UI"/>
              </a:defRPr>
            </a:pPr>
            <a:r>
              <a:t>ÉVALUATION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376732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900" b="1">
                <a:solidFill>
                  <a:srgbClr val="FFFFFF"/>
                </a:solidFill>
                <a:latin typeface="Segoe UI"/>
              </a:defRPr>
            </a:pPr>
            <a:r>
              <a:t>RAGAS + MLflow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42062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A8C4D0"/>
                </a:solidFill>
                <a:latin typeface="Segoe UI"/>
              </a:defRPr>
            </a:pPr>
            <a:r>
              <a:t>Métriques auditées, traces LLM complètes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5349240"/>
            <a:ext cx="10515600" cy="88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A8C4D0"/>
                </a:solidFill>
                <a:latin typeface="Segoe UI"/>
              </a:defRPr>
            </a:pPr>
            <a:r>
              <a:rPr dirty="0"/>
              <a:t>Mouhamed Diop  </a:t>
            </a:r>
            <a:endParaRPr lang="en-US" dirty="0"/>
          </a:p>
          <a:p>
            <a:pPr algn="l">
              <a:spcAft>
                <a:spcPts val="400"/>
              </a:spcAft>
              <a:defRPr sz="1500" b="0">
                <a:solidFill>
                  <a:srgbClr val="A8C4D0"/>
                </a:solidFill>
                <a:latin typeface="Segoe UI"/>
              </a:defRPr>
            </a:pPr>
            <a:r>
              <a:rPr lang="en-US" dirty="0" err="1"/>
              <a:t>Professeure</a:t>
            </a:r>
            <a:r>
              <a:rPr dirty="0"/>
              <a:t> : </a:t>
            </a:r>
            <a:r>
              <a:rPr lang="en-US" dirty="0" err="1"/>
              <a:t>Mme</a:t>
            </a:r>
            <a:r>
              <a:rPr lang="en-US" dirty="0"/>
              <a:t> </a:t>
            </a:r>
            <a:r>
              <a:rPr dirty="0" err="1"/>
              <a:t>Mously</a:t>
            </a:r>
            <a:r>
              <a:rPr dirty="0"/>
              <a:t> DIAW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A8C4D0"/>
                </a:solidFill>
                <a:latin typeface="Segoe UI"/>
              </a:defRPr>
            </a:pPr>
            <a:r>
              <a:rPr dirty="0" err="1"/>
              <a:t>Projet</a:t>
            </a:r>
            <a:r>
              <a:rPr dirty="0"/>
              <a:t> </a:t>
            </a:r>
            <a:r>
              <a:rPr dirty="0" err="1"/>
              <a:t>LLMOps</a:t>
            </a:r>
            <a:r>
              <a:rPr dirty="0"/>
              <a:t> — Juin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Problématique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1554480" cy="41148"/>
          </a:xfrm>
          <a:prstGeom prst="rect">
            <a:avLst/>
          </a:prstGeom>
          <a:solidFill>
            <a:srgbClr val="7FB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600200"/>
            <a:ext cx="3566160" cy="4206240"/>
          </a:xfrm>
          <a:prstGeom prst="roundRect">
            <a:avLst>
              <a:gd name="adj" fmla="val 8000"/>
            </a:avLst>
          </a:prstGeom>
          <a:solidFill>
            <a:srgbClr val="0D355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50" b="1">
                <a:solidFill>
                  <a:srgbClr val="7FB3C8"/>
                </a:solidFill>
                <a:latin typeface="Segoe UI"/>
              </a:defRPr>
            </a:pPr>
            <a:r>
              <a:t>DONNÉES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Surcharge informationnelle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A8C4D0"/>
                </a:solidFill>
                <a:latin typeface="Segoe UI"/>
              </a:defRPr>
            </a:pPr>
            <a:r>
              <a:t>Les cliniciens gèrent des milliers de dossiers complexes au quotidien. L'accès manuel à l'information pertinente est chronophage et source d'erreurs.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074920"/>
            <a:ext cx="3108960" cy="50292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515721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E8F4F8"/>
                </a:solidFill>
                <a:latin typeface="Segoe UI"/>
              </a:defRPr>
            </a:pPr>
            <a:r>
              <a:t>158 k+ notes à analyser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3566160" cy="4206240"/>
          </a:xfrm>
          <a:prstGeom prst="roundRect">
            <a:avLst>
              <a:gd name="adj" fmla="val 8000"/>
            </a:avLst>
          </a:prstGeom>
          <a:solidFill>
            <a:srgbClr val="0D355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828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50" b="1">
                <a:solidFill>
                  <a:srgbClr val="7FB3C8"/>
                </a:solidFill>
                <a:latin typeface="Segoe UI"/>
              </a:defRPr>
            </a:pPr>
            <a:r>
              <a:t>ERREURS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19456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Lecture difficile et risquée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0175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A8C4D0"/>
                </a:solidFill>
                <a:latin typeface="Segoe UI"/>
              </a:defRPr>
            </a:pPr>
            <a:r>
              <a:t>Terminologie médicale dense, abréviations non standardisées, structure variable : l'interprétation des comptes-rendus hospitaliers est délicate.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5074920"/>
            <a:ext cx="3108960" cy="50292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09160" y="515721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E8F4F8"/>
                </a:solidFill>
                <a:latin typeface="Segoe UI"/>
              </a:defRPr>
            </a:pPr>
            <a:r>
              <a:t>Abréviations non standardisées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1600200"/>
            <a:ext cx="3566160" cy="4206240"/>
          </a:xfrm>
          <a:prstGeom prst="roundRect">
            <a:avLst>
              <a:gd name="adj" fmla="val 8000"/>
            </a:avLst>
          </a:prstGeom>
          <a:solidFill>
            <a:srgbClr val="0D355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0" y="1828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50" b="1">
                <a:solidFill>
                  <a:srgbClr val="7FB3C8"/>
                </a:solidFill>
                <a:latin typeface="Segoe UI"/>
              </a:defRPr>
            </a:pPr>
            <a:r>
              <a:t>SOLUTION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19456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Interrogation en langage naturel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0175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A8C4D0"/>
                </a:solidFill>
                <a:latin typeface="Segoe UI"/>
              </a:defRPr>
            </a:pPr>
            <a:r>
              <a:t>Les praticiens doivent pouvoir questionner les dossiers directement, sans langage de requête ni outil complexe — avec des réponses sourcées.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5074920"/>
            <a:ext cx="3108960" cy="50292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03920" y="515721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E8F4F8"/>
                </a:solidFill>
                <a:latin typeface="Segoe UI"/>
              </a:defRPr>
            </a:pPr>
            <a:r>
              <a:t>→ Question Answering RAG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92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50" b="0">
                <a:solidFill>
                  <a:srgbClr val="A8C4D0"/>
                </a:solidFill>
                <a:latin typeface="Segoe UI"/>
              </a:defRPr>
            </a:pPr>
            <a:r>
              <a:t>MedAssist — Projet LLMOps ·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50" b="0">
                <a:solidFill>
                  <a:srgbClr val="A8C4D0"/>
                </a:solidFill>
                <a:latin typeface="Segoe U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10160"/>
            <a:ext cx="12191695" cy="6858000"/>
          </a:xfrm>
          <a:prstGeom prst="rect">
            <a:avLst/>
          </a:prstGeom>
          <a:solidFill>
            <a:srgbClr val="021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Dataset Asclepius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1554480" cy="41148"/>
          </a:xfrm>
          <a:prstGeom prst="rect">
            <a:avLst/>
          </a:prstGeom>
          <a:solidFill>
            <a:srgbClr val="7FB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3504" y="10241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50" b="0">
                <a:solidFill>
                  <a:srgbClr val="A8C4D0"/>
                </a:solidFill>
                <a:latin typeface="Segoe UI"/>
              </a:defRPr>
            </a:pPr>
            <a:r>
              <a:t>Notes cliniques synthétiques (HuggingFace) — aucune donnée patient réelle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54480"/>
            <a:ext cx="3291840" cy="1078992"/>
          </a:xfrm>
          <a:prstGeom prst="roundRect">
            <a:avLst>
              <a:gd name="adj" fmla="val 8000"/>
            </a:avLst>
          </a:prstGeom>
          <a:solidFill>
            <a:srgbClr val="0D355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1601216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7FB3C8"/>
                </a:solidFill>
                <a:latin typeface="Segoe UI"/>
              </a:defRPr>
            </a:pPr>
            <a:r>
              <a:rPr dirty="0"/>
              <a:t>158 114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8849" y="205130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E8F4F8"/>
                </a:solidFill>
                <a:latin typeface="Segoe UI"/>
              </a:defRPr>
            </a:pPr>
            <a:r>
              <a:rPr dirty="0"/>
              <a:t>Notes </a:t>
            </a:r>
            <a:r>
              <a:rPr dirty="0" err="1"/>
              <a:t>hospitalières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697993" y="2245700"/>
            <a:ext cx="3017520" cy="73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A8C4D0"/>
                </a:solidFill>
                <a:latin typeface="Segoe UI"/>
              </a:defRPr>
            </a:pPr>
            <a:r>
              <a:rPr dirty="0" err="1"/>
              <a:t>Synthétiques</a:t>
            </a:r>
            <a:r>
              <a:rPr dirty="0"/>
              <a:t>, format note + question + </a:t>
            </a:r>
            <a:r>
              <a:rPr dirty="0" err="1"/>
              <a:t>réponse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603504" y="2743200"/>
            <a:ext cx="3291840" cy="1078992"/>
          </a:xfrm>
          <a:prstGeom prst="roundRect">
            <a:avLst>
              <a:gd name="adj" fmla="val 8000"/>
            </a:avLst>
          </a:prstGeom>
          <a:solidFill>
            <a:srgbClr val="0D355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85292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7FB3C8"/>
                </a:solidFill>
                <a:latin typeface="Segoe UI"/>
              </a:defRPr>
            </a:pPr>
            <a:r>
              <a:rPr dirty="0"/>
              <a:t>8 types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791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E8F4F8"/>
                </a:solidFill>
                <a:latin typeface="Segoe UI"/>
              </a:defRPr>
            </a:pPr>
            <a:r>
              <a:rPr dirty="0" err="1"/>
              <a:t>Tâches</a:t>
            </a:r>
            <a:r>
              <a:rPr dirty="0"/>
              <a:t> </a:t>
            </a:r>
            <a:r>
              <a:rPr dirty="0" err="1"/>
              <a:t>médicales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688849" y="3536189"/>
            <a:ext cx="3017520" cy="73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A8C4D0"/>
                </a:solidFill>
                <a:latin typeface="Segoe UI"/>
              </a:defRPr>
            </a:pPr>
            <a:r>
              <a:rPr dirty="0"/>
              <a:t>QA, résumé, NER, extraction de relations…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943946"/>
            <a:ext cx="3291840" cy="1078992"/>
          </a:xfrm>
          <a:prstGeom prst="roundRect">
            <a:avLst>
              <a:gd name="adj" fmla="val 8000"/>
            </a:avLst>
          </a:prstGeom>
          <a:solidFill>
            <a:srgbClr val="0D355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406146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7FB3C8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993" y="446684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E8F4F8"/>
                </a:solidFill>
                <a:latin typeface="Segoe UI"/>
              </a:defRPr>
            </a:pPr>
            <a:r>
              <a:rPr dirty="0" err="1"/>
              <a:t>Doublon</a:t>
            </a:r>
            <a:r>
              <a:rPr dirty="0"/>
              <a:t> </a:t>
            </a:r>
            <a:r>
              <a:rPr dirty="0" err="1"/>
              <a:t>détecté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731520" y="4773169"/>
            <a:ext cx="3017520" cy="73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A8C4D0"/>
                </a:solidFill>
                <a:latin typeface="Segoe UI"/>
              </a:defRPr>
            </a:pPr>
            <a:r>
              <a:rPr dirty="0" err="1"/>
              <a:t>Vérifié</a:t>
            </a:r>
            <a:r>
              <a:rPr dirty="0"/>
              <a:t> </a:t>
            </a:r>
            <a:r>
              <a:rPr dirty="0" err="1"/>
              <a:t>lors</a:t>
            </a:r>
            <a:r>
              <a:rPr dirty="0"/>
              <a:t> de </a:t>
            </a:r>
            <a:r>
              <a:rPr dirty="0" err="1"/>
              <a:t>l'exploration</a:t>
            </a:r>
            <a:r>
              <a:rPr dirty="0"/>
              <a:t> (EDA)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5175504"/>
            <a:ext cx="3291840" cy="1078992"/>
          </a:xfrm>
          <a:prstGeom prst="roundRect">
            <a:avLst>
              <a:gd name="adj" fmla="val 8000"/>
            </a:avLst>
          </a:prstGeom>
          <a:solidFill>
            <a:srgbClr val="0D355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524341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7FB3C8"/>
                </a:solidFill>
                <a:latin typeface="Segoe UI"/>
              </a:defRPr>
            </a:pPr>
            <a:r>
              <a:rPr dirty="0"/>
              <a:t>500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" y="563203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E8F4F8"/>
                </a:solidFill>
                <a:latin typeface="Segoe UI"/>
              </a:defRPr>
            </a:pPr>
            <a:r>
              <a:rPr dirty="0"/>
              <a:t>Notes </a:t>
            </a:r>
            <a:r>
              <a:rPr dirty="0" err="1"/>
              <a:t>ingérées</a:t>
            </a:r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711201" y="5922099"/>
            <a:ext cx="3017520" cy="73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A8C4D0"/>
                </a:solidFill>
                <a:latin typeface="Segoe UI"/>
              </a:defRPr>
            </a:pPr>
            <a:r>
              <a:rPr dirty="0" err="1"/>
              <a:t>Périmètre</a:t>
            </a:r>
            <a:r>
              <a:rPr dirty="0"/>
              <a:t> de la </a:t>
            </a:r>
            <a:r>
              <a:rPr dirty="0" err="1"/>
              <a:t>démonstration</a:t>
            </a:r>
            <a:endParaRPr dirty="0"/>
          </a:p>
        </p:txBody>
      </p:sp>
      <p:sp>
        <p:nvSpPr>
          <p:cNvPr id="22" name="Rounded Rectangle 21"/>
          <p:cNvSpPr/>
          <p:nvPr/>
        </p:nvSpPr>
        <p:spPr>
          <a:xfrm>
            <a:off x="4206240" y="2245700"/>
            <a:ext cx="7406640" cy="337243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-3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968" y="2355428"/>
            <a:ext cx="7187183" cy="315298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94360" y="6492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50" b="0">
                <a:solidFill>
                  <a:srgbClr val="A8C4D0"/>
                </a:solidFill>
                <a:latin typeface="Segoe UI"/>
              </a:defRPr>
            </a:pPr>
            <a:r>
              <a:t>MedAssist — Projet LLMOps ·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50" b="0">
                <a:solidFill>
                  <a:srgbClr val="A8C4D0"/>
                </a:solidFill>
                <a:latin typeface="Segoe U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Architecture du Pipeline RAG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1554480" cy="41148"/>
          </a:xfrm>
          <a:prstGeom prst="rect">
            <a:avLst/>
          </a:prstGeom>
          <a:solidFill>
            <a:srgbClr val="7FB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7FB3C8"/>
                </a:solidFill>
                <a:latin typeface="Segoe UI"/>
              </a:defRPr>
            </a:pPr>
            <a:r>
              <a:t>Pipeline d'ingestion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2331720" cy="1143000"/>
          </a:xfrm>
          <a:prstGeom prst="roundRect">
            <a:avLst>
              <a:gd name="adj" fmla="val 8000"/>
            </a:avLst>
          </a:prstGeom>
          <a:solidFill>
            <a:srgbClr val="0D355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92807"/>
            <a:ext cx="2148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Asclepius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276856"/>
            <a:ext cx="21488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0">
                <a:solidFill>
                  <a:srgbClr val="A8C4D0"/>
                </a:solidFill>
                <a:latin typeface="Segoe UI"/>
              </a:defRPr>
            </a:pPr>
            <a:r>
              <a:t>Dataset</a:t>
            </a:r>
          </a:p>
          <a:p>
            <a:pPr algn="ctr">
              <a:spcAft>
                <a:spcPts val="200"/>
              </a:spcAft>
              <a:defRPr sz="1100" b="0">
                <a:solidFill>
                  <a:srgbClr val="A8C4D0"/>
                </a:solidFill>
                <a:latin typeface="Segoe UI"/>
              </a:defRPr>
            </a:pPr>
            <a:r>
              <a:t>HuggingFace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9232" y="2194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1">
                <a:solidFill>
                  <a:srgbClr val="7FB3C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2" y="1783080"/>
            <a:ext cx="2331720" cy="1143000"/>
          </a:xfrm>
          <a:prstGeom prst="roundRect">
            <a:avLst>
              <a:gd name="adj" fmla="val 8000"/>
            </a:avLst>
          </a:prstGeom>
          <a:solidFill>
            <a:srgbClr val="0D355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02152" y="1892807"/>
            <a:ext cx="2148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Chunking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2276856"/>
            <a:ext cx="21488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0">
                <a:solidFill>
                  <a:srgbClr val="A8C4D0"/>
                </a:solidFill>
                <a:latin typeface="Segoe UI"/>
              </a:defRPr>
            </a:pPr>
            <a:r>
              <a:t>512 caractères</a:t>
            </a:r>
          </a:p>
          <a:p>
            <a:pPr algn="ctr">
              <a:spcAft>
                <a:spcPts val="200"/>
              </a:spcAft>
              <a:defRPr sz="1100" b="0">
                <a:solidFill>
                  <a:srgbClr val="A8C4D0"/>
                </a:solidFill>
                <a:latin typeface="Segoe UI"/>
              </a:defRPr>
            </a:pPr>
            <a:r>
              <a:t>recouvrement 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88152" y="2194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1">
                <a:solidFill>
                  <a:srgbClr val="7FB3C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1" y="1783080"/>
            <a:ext cx="2331720" cy="1143000"/>
          </a:xfrm>
          <a:prstGeom prst="roundRect">
            <a:avLst>
              <a:gd name="adj" fmla="val 8000"/>
            </a:avLst>
          </a:prstGeom>
          <a:solidFill>
            <a:srgbClr val="0D355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91071" y="1892807"/>
            <a:ext cx="2148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Embedding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1" y="2276856"/>
            <a:ext cx="21488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0">
                <a:solidFill>
                  <a:srgbClr val="A8C4D0"/>
                </a:solidFill>
                <a:latin typeface="Segoe UI"/>
              </a:defRPr>
            </a:pPr>
            <a:r>
              <a:t>all-MiniLM-L6-v2</a:t>
            </a:r>
          </a:p>
          <a:p>
            <a:pPr algn="ctr">
              <a:spcAft>
                <a:spcPts val="200"/>
              </a:spcAft>
              <a:defRPr sz="1100" b="0">
                <a:solidFill>
                  <a:srgbClr val="A8C4D0"/>
                </a:solidFill>
                <a:latin typeface="Segoe UI"/>
              </a:defRPr>
            </a:pPr>
            <a:r>
              <a:t>dim 384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7072" y="2194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1">
                <a:solidFill>
                  <a:srgbClr val="7FB3C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88551" y="1783080"/>
            <a:ext cx="2331720" cy="1143000"/>
          </a:xfrm>
          <a:prstGeom prst="roundRect">
            <a:avLst>
              <a:gd name="adj" fmla="val 8000"/>
            </a:avLst>
          </a:prstGeom>
          <a:solidFill>
            <a:srgbClr val="0D355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79991" y="1892807"/>
            <a:ext cx="2148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Qdrant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9991" y="2276856"/>
            <a:ext cx="21488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0">
                <a:solidFill>
                  <a:srgbClr val="A8C4D0"/>
                </a:solidFill>
                <a:latin typeface="Segoe UI"/>
              </a:defRPr>
            </a:pPr>
            <a:r>
              <a:t>Base vectorielle</a:t>
            </a:r>
          </a:p>
          <a:p>
            <a:pPr algn="ctr">
              <a:spcAft>
                <a:spcPts val="200"/>
              </a:spcAft>
              <a:defRPr sz="1100" b="0">
                <a:solidFill>
                  <a:srgbClr val="A8C4D0"/>
                </a:solidFill>
                <a:latin typeface="Segoe UI"/>
              </a:defRPr>
            </a:pPr>
            <a:r>
              <a:t>IDs idempotents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3246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7FB3C8"/>
                </a:solidFill>
                <a:latin typeface="Segoe UI"/>
              </a:defRPr>
            </a:pPr>
            <a:r>
              <a:t>Pipeline de requête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3657600"/>
            <a:ext cx="2331720" cy="1143000"/>
          </a:xfrm>
          <a:prstGeom prst="roundRect">
            <a:avLst>
              <a:gd name="adj" fmla="val 8000"/>
            </a:avLst>
          </a:prstGeom>
          <a:solidFill>
            <a:srgbClr val="0D355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2" y="3767328"/>
            <a:ext cx="2148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Question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151376"/>
            <a:ext cx="21488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0">
                <a:solidFill>
                  <a:srgbClr val="A8C4D0"/>
                </a:solidFill>
                <a:latin typeface="Segoe UI"/>
              </a:defRPr>
            </a:pPr>
            <a:r>
              <a:t>Clinicien</a:t>
            </a:r>
          </a:p>
          <a:p>
            <a:pPr algn="ctr">
              <a:spcAft>
                <a:spcPts val="200"/>
              </a:spcAft>
              <a:defRPr sz="1100" b="0">
                <a:solidFill>
                  <a:srgbClr val="A8C4D0"/>
                </a:solidFill>
                <a:latin typeface="Segoe UI"/>
              </a:defRPr>
            </a:pPr>
            <a:r>
              <a:t>langage naturel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99232" y="4069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1">
                <a:solidFill>
                  <a:srgbClr val="7FB3C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10712" y="3657600"/>
            <a:ext cx="2331720" cy="1143000"/>
          </a:xfrm>
          <a:prstGeom prst="roundRect">
            <a:avLst>
              <a:gd name="adj" fmla="val 8000"/>
            </a:avLst>
          </a:prstGeom>
          <a:solidFill>
            <a:srgbClr val="0D355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502152" y="3767328"/>
            <a:ext cx="2148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Embedding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2152" y="4151376"/>
            <a:ext cx="21488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0">
                <a:solidFill>
                  <a:srgbClr val="A8C4D0"/>
                </a:solidFill>
                <a:latin typeface="Segoe UI"/>
              </a:defRPr>
            </a:pPr>
            <a:r>
              <a:t>all-MiniLM</a:t>
            </a:r>
          </a:p>
          <a:p>
            <a:pPr algn="ctr">
              <a:spcAft>
                <a:spcPts val="200"/>
              </a:spcAft>
              <a:defRPr sz="1100" b="0">
                <a:solidFill>
                  <a:srgbClr val="A8C4D0"/>
                </a:solidFill>
                <a:latin typeface="Segoe UI"/>
              </a:defRPr>
            </a:pPr>
            <a:r>
              <a:t>requête vectorisée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88152" y="4069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1">
                <a:solidFill>
                  <a:srgbClr val="7FB3C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1" y="3657600"/>
            <a:ext cx="2331720" cy="1143000"/>
          </a:xfrm>
          <a:prstGeom prst="roundRect">
            <a:avLst>
              <a:gd name="adj" fmla="val 8000"/>
            </a:avLst>
          </a:prstGeom>
          <a:solidFill>
            <a:srgbClr val="0D355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91071" y="3767328"/>
            <a:ext cx="2148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Retrieval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1071" y="4151376"/>
            <a:ext cx="21488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0">
                <a:solidFill>
                  <a:srgbClr val="A8C4D0"/>
                </a:solidFill>
                <a:latin typeface="Segoe UI"/>
              </a:defRPr>
            </a:pPr>
            <a:r>
              <a:t>Top-k Qdrant</a:t>
            </a:r>
          </a:p>
          <a:p>
            <a:pPr algn="ctr">
              <a:spcAft>
                <a:spcPts val="200"/>
              </a:spcAft>
              <a:defRPr sz="1100" b="0">
                <a:solidFill>
                  <a:srgbClr val="A8C4D0"/>
                </a:solidFill>
                <a:latin typeface="Segoe UI"/>
              </a:defRPr>
            </a:pPr>
            <a:r>
              <a:t>filtre par patient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77072" y="4069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1">
                <a:solidFill>
                  <a:srgbClr val="7FB3C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88551" y="3657600"/>
            <a:ext cx="2331720" cy="11430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079991" y="3767328"/>
            <a:ext cx="2148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Claude Haiku 4.5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79991" y="4151376"/>
            <a:ext cx="21488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0">
                <a:solidFill>
                  <a:srgbClr val="A8C4D0"/>
                </a:solidFill>
                <a:latin typeface="Segoe UI"/>
              </a:defRPr>
            </a:pPr>
            <a:r>
              <a:t>Génération</a:t>
            </a:r>
          </a:p>
          <a:p>
            <a:pPr algn="ctr">
              <a:spcAft>
                <a:spcPts val="200"/>
              </a:spcAft>
              <a:defRPr sz="1100" b="0">
                <a:solidFill>
                  <a:srgbClr val="A8C4D0"/>
                </a:solidFill>
                <a:latin typeface="Segoe UI"/>
              </a:defRPr>
            </a:pPr>
            <a:r>
              <a:t>prompt anti-hallucination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" y="5166360"/>
            <a:ext cx="10972800" cy="777240"/>
          </a:xfrm>
          <a:prstGeom prst="roundRect">
            <a:avLst>
              <a:gd name="adj" fmla="val 8000"/>
            </a:avLst>
          </a:prstGeom>
          <a:solidFill>
            <a:srgbClr val="0D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68680" y="53492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50" b="0">
                <a:solidFill>
                  <a:srgbClr val="E8F4F8"/>
                </a:solidFill>
                <a:latin typeface="Segoe UI"/>
              </a:defRPr>
            </a:pPr>
            <a:r>
              <a:t>Réponse sourcée (citations note_id)   |   Monitoring : MLflow + RAGAS   |   Infra : Docker + DVC + CI/CD   |   Interface : FastAPI + React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6492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50" b="0">
                <a:solidFill>
                  <a:srgbClr val="A8C4D0"/>
                </a:solidFill>
                <a:latin typeface="Segoe UI"/>
              </a:defRPr>
            </a:pPr>
            <a:r>
              <a:t>MedAssist — Projet LLMOps ·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50" b="0">
                <a:solidFill>
                  <a:srgbClr val="A8C4D0"/>
                </a:solidFill>
                <a:latin typeface="Segoe U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Le cycle de vie LLMOps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1554480" cy="41148"/>
          </a:xfrm>
          <a:prstGeom prst="rect">
            <a:avLst/>
          </a:prstGeom>
          <a:solidFill>
            <a:srgbClr val="7FB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3504" y="10241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50" b="0">
                <a:solidFill>
                  <a:srgbClr val="A8C4D0"/>
                </a:solidFill>
                <a:latin typeface="Segoe UI"/>
              </a:defRPr>
            </a:pPr>
            <a:r>
              <a:t>Un système LLM n'est pas livré une fois : il est opéré, mesuré et amélioré en continu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783080"/>
            <a:ext cx="3017520" cy="1188720"/>
          </a:xfrm>
          <a:prstGeom prst="roundRect">
            <a:avLst>
              <a:gd name="adj" fmla="val 8000"/>
            </a:avLst>
          </a:prstGeom>
          <a:solidFill>
            <a:srgbClr val="0D355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892807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1. Données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76856"/>
            <a:ext cx="2834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0">
                <a:solidFill>
                  <a:srgbClr val="A8C4D0"/>
                </a:solidFill>
                <a:latin typeface="Segoe UI"/>
              </a:defRPr>
            </a:pPr>
            <a:r>
              <a:t>Asclepius versionné</a:t>
            </a:r>
          </a:p>
          <a:p>
            <a:pPr algn="ctr">
              <a:spcAft>
                <a:spcPts val="200"/>
              </a:spcAft>
              <a:defRPr sz="1100" b="0">
                <a:solidFill>
                  <a:srgbClr val="A8C4D0"/>
                </a:solidFill>
                <a:latin typeface="Segoe UI"/>
              </a:defRPr>
            </a:pPr>
            <a:r>
              <a:t>DVC : ingest → embed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240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1">
                <a:solidFill>
                  <a:srgbClr val="7FB3C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783080"/>
            <a:ext cx="3017520" cy="1188720"/>
          </a:xfrm>
          <a:prstGeom prst="roundRect">
            <a:avLst>
              <a:gd name="adj" fmla="val 8000"/>
            </a:avLst>
          </a:prstGeom>
          <a:solidFill>
            <a:srgbClr val="0D355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892807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2. Intégration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276856"/>
            <a:ext cx="2834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0">
                <a:solidFill>
                  <a:srgbClr val="A8C4D0"/>
                </a:solidFill>
                <a:latin typeface="Segoe UI"/>
              </a:defRPr>
            </a:pPr>
            <a:r>
              <a:t>GitHub Actions</a:t>
            </a:r>
          </a:p>
          <a:p>
            <a:pPr algn="ctr">
              <a:spcAft>
                <a:spcPts val="200"/>
              </a:spcAft>
              <a:defRPr sz="1100" b="0">
                <a:solidFill>
                  <a:srgbClr val="A8C4D0"/>
                </a:solidFill>
                <a:latin typeface="Segoe UI"/>
              </a:defRPr>
            </a:pPr>
            <a:r>
              <a:t>lint · 38 tests ·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2240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1">
                <a:solidFill>
                  <a:srgbClr val="7FB3C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83080"/>
            <a:ext cx="3017520" cy="1188720"/>
          </a:xfrm>
          <a:prstGeom prst="roundRect">
            <a:avLst>
              <a:gd name="adj" fmla="val 8000"/>
            </a:avLst>
          </a:prstGeom>
          <a:solidFill>
            <a:srgbClr val="0D355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38160" y="1892807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3. Déploiement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276856"/>
            <a:ext cx="2834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0">
                <a:solidFill>
                  <a:srgbClr val="A8C4D0"/>
                </a:solidFill>
                <a:latin typeface="Segoe UI"/>
              </a:defRPr>
            </a:pPr>
            <a:r>
              <a:t>Docker multi-étapes</a:t>
            </a:r>
          </a:p>
          <a:p>
            <a:pPr algn="ctr">
              <a:spcAft>
                <a:spcPts val="200"/>
              </a:spcAft>
              <a:defRPr sz="1100" b="0">
                <a:solidFill>
                  <a:srgbClr val="A8C4D0"/>
                </a:solidFill>
                <a:latin typeface="Segoe UI"/>
              </a:defRPr>
            </a:pPr>
            <a:r>
              <a:t>API + interface React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4206240"/>
            <a:ext cx="3017520" cy="118872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4315968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6. Amélioration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700016"/>
            <a:ext cx="2834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0">
                <a:solidFill>
                  <a:srgbClr val="A8C4D0"/>
                </a:solidFill>
                <a:latin typeface="Segoe UI"/>
              </a:defRPr>
            </a:pPr>
            <a:r>
              <a:t>Prompt, top-k, modèles</a:t>
            </a:r>
          </a:p>
          <a:p>
            <a:pPr algn="ctr">
              <a:spcAft>
                <a:spcPts val="200"/>
              </a:spcAft>
              <a:defRPr sz="1100" b="0">
                <a:solidFill>
                  <a:srgbClr val="A8C4D0"/>
                </a:solidFill>
                <a:latin typeface="Segoe UI"/>
              </a:defRPr>
            </a:pPr>
            <a:r>
              <a:t>nouvelle itération versionnée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663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1">
                <a:solidFill>
                  <a:srgbClr val="7FB3C8"/>
                </a:solidFill>
                <a:latin typeface="Segoe UI"/>
              </a:defRPr>
            </a:pPr>
            <a:r>
              <a:t>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4206240"/>
            <a:ext cx="3017520" cy="118872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17720" y="4315968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5. Évaluation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700016"/>
            <a:ext cx="2834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0">
                <a:solidFill>
                  <a:srgbClr val="A8C4D0"/>
                </a:solidFill>
                <a:latin typeface="Segoe UI"/>
              </a:defRPr>
            </a:pPr>
            <a:r>
              <a:t>RAGAS, juge Claude</a:t>
            </a:r>
          </a:p>
          <a:p>
            <a:pPr algn="ctr">
              <a:spcAft>
                <a:spcPts val="200"/>
              </a:spcAft>
              <a:defRPr sz="1100" b="0">
                <a:solidFill>
                  <a:srgbClr val="A8C4D0"/>
                </a:solidFill>
                <a:latin typeface="Segoe UI"/>
              </a:defRPr>
            </a:pPr>
            <a:r>
              <a:t>verdicts justifiés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4663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1">
                <a:solidFill>
                  <a:srgbClr val="7FB3C8"/>
                </a:solidFill>
                <a:latin typeface="Segoe UI"/>
              </a:defRPr>
            </a:pPr>
            <a:r>
              <a:t>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4206240"/>
            <a:ext cx="3017520" cy="118872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38160" y="4315968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4. Monitoring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4700016"/>
            <a:ext cx="2834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0">
                <a:solidFill>
                  <a:srgbClr val="A8C4D0"/>
                </a:solidFill>
                <a:latin typeface="Segoe UI"/>
              </a:defRPr>
            </a:pPr>
            <a:r>
              <a:t>MLflow : runs, traces,</a:t>
            </a:r>
          </a:p>
          <a:p>
            <a:pPr algn="ctr">
              <a:spcAft>
                <a:spcPts val="200"/>
              </a:spcAft>
              <a:defRPr sz="1100" b="0">
                <a:solidFill>
                  <a:srgbClr val="A8C4D0"/>
                </a:solidFill>
                <a:latin typeface="Segoe UI"/>
              </a:defRPr>
            </a:pPr>
            <a:r>
              <a:t>latence, tokens, erreurs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20" y="3200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1">
                <a:solidFill>
                  <a:srgbClr val="7FB3C8"/>
                </a:solidFill>
                <a:latin typeface="Segoe UI"/>
              </a:defRPr>
            </a:pPr>
            <a:r>
              <a:t>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200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1">
                <a:solidFill>
                  <a:srgbClr val="7FB3C8"/>
                </a:solidFill>
                <a:latin typeface="Segoe UI"/>
              </a:defRPr>
            </a:pPr>
            <a:r>
              <a:t>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77639" y="3218687"/>
            <a:ext cx="4114800" cy="548640"/>
          </a:xfrm>
          <a:prstGeom prst="roundRect">
            <a:avLst>
              <a:gd name="adj" fmla="val 8000"/>
            </a:avLst>
          </a:prstGeom>
          <a:solidFill>
            <a:srgbClr val="021526"/>
          </a:solidFill>
          <a:ln w="15240">
            <a:solidFill>
              <a:srgbClr val="7FB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069080" y="3323335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7FB3C8"/>
                </a:solidFill>
                <a:latin typeface="Segoe UI"/>
              </a:defRPr>
            </a:pPr>
            <a:r>
              <a:rPr dirty="0"/>
              <a:t>Boucle continue — </a:t>
            </a:r>
            <a:r>
              <a:rPr dirty="0" err="1"/>
              <a:t>chaque</a:t>
            </a:r>
            <a:r>
              <a:rPr dirty="0"/>
              <a:t> étape </a:t>
            </a:r>
            <a:r>
              <a:rPr dirty="0" err="1"/>
              <a:t>outillée</a:t>
            </a:r>
            <a:endParaRPr dirty="0"/>
          </a:p>
        </p:txBody>
      </p:sp>
      <p:sp>
        <p:nvSpPr>
          <p:cNvPr id="32" name="TextBox 31"/>
          <p:cNvSpPr txBox="1"/>
          <p:nvPr/>
        </p:nvSpPr>
        <p:spPr>
          <a:xfrm>
            <a:off x="594360" y="6492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50" b="0">
                <a:solidFill>
                  <a:srgbClr val="A8C4D0"/>
                </a:solidFill>
                <a:latin typeface="Segoe UI"/>
              </a:defRPr>
            </a:pPr>
            <a:r>
              <a:t>MedAssist — Projet LLMOps ·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50" b="0">
                <a:solidFill>
                  <a:srgbClr val="A8C4D0"/>
                </a:solidFill>
                <a:latin typeface="Segoe U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Analyse exploratoire — longueurs des textes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1554480" cy="41148"/>
          </a:xfrm>
          <a:prstGeom prst="rect">
            <a:avLst/>
          </a:prstGeom>
          <a:solidFill>
            <a:srgbClr val="7FB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3504" y="10241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50" b="0">
                <a:solidFill>
                  <a:srgbClr val="A8C4D0"/>
                </a:solidFill>
                <a:latin typeface="Segoe UI"/>
              </a:defRPr>
            </a:pPr>
            <a:r>
              <a:t>Notes (caractères &amp; mots), questions, réponses  |  repère chunk_size = 512 en rouge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4552" y="1463040"/>
            <a:ext cx="8192414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-5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4280" y="1572768"/>
            <a:ext cx="7972958" cy="46268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492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50" b="0">
                <a:solidFill>
                  <a:srgbClr val="A8C4D0"/>
                </a:solidFill>
                <a:latin typeface="Segoe UI"/>
              </a:defRPr>
            </a:pPr>
            <a:r>
              <a:t>MedAssist — Projet LLMOps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50" b="0">
                <a:solidFill>
                  <a:srgbClr val="A8C4D0"/>
                </a:solidFill>
                <a:latin typeface="Segoe U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800"/>
            <a:ext cx="12191695" cy="6858000"/>
          </a:xfrm>
          <a:prstGeom prst="rect">
            <a:avLst/>
          </a:prstGeom>
          <a:solidFill>
            <a:srgbClr val="021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Stratégie de chunking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1554480" cy="41148"/>
          </a:xfrm>
          <a:prstGeom prst="rect">
            <a:avLst/>
          </a:prstGeom>
          <a:solidFill>
            <a:srgbClr val="7FB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2697480" cy="1325880"/>
          </a:xfrm>
          <a:prstGeom prst="roundRect">
            <a:avLst>
              <a:gd name="adj" fmla="val 8000"/>
            </a:avLst>
          </a:prstGeom>
          <a:solidFill>
            <a:srgbClr val="0D355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81912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7FB3C8"/>
                </a:solidFill>
                <a:latin typeface="Segoe UI"/>
              </a:defRPr>
            </a:pPr>
            <a:r>
              <a:t>512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399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E8F4F8"/>
                </a:solidFill>
                <a:latin typeface="Segoe UI"/>
              </a:defRPr>
            </a:pPr>
            <a:r>
              <a:rPr dirty="0" err="1"/>
              <a:t>Caractères</a:t>
            </a:r>
            <a:r>
              <a:rPr dirty="0"/>
              <a:t> par chunk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8640"/>
            <a:ext cx="2423160" cy="320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A8C4D0"/>
                </a:solidFill>
                <a:latin typeface="Segoe UI"/>
              </a:defRPr>
            </a:pPr>
            <a:r>
              <a:rPr dirty="0" err="1"/>
              <a:t>RecursiveCharacterTextSplitter</a:t>
            </a:r>
            <a:r>
              <a:rPr dirty="0"/>
              <a:t>, </a:t>
            </a:r>
            <a:r>
              <a:rPr dirty="0" err="1"/>
              <a:t>recouvrement</a:t>
            </a:r>
            <a:r>
              <a:rPr dirty="0"/>
              <a:t>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8" y="1463040"/>
            <a:ext cx="2697480" cy="1325880"/>
          </a:xfrm>
          <a:prstGeom prst="roundRect">
            <a:avLst>
              <a:gd name="adj" fmla="val 8000"/>
            </a:avLst>
          </a:prstGeom>
          <a:solidFill>
            <a:srgbClr val="0D355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84448" y="1581912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7FB3C8"/>
                </a:solidFill>
                <a:latin typeface="Segoe UI"/>
              </a:defRPr>
            </a:pPr>
            <a:r>
              <a:t>0 %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4448" y="2057399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E8F4F8"/>
                </a:solidFill>
                <a:latin typeface="Segoe UI"/>
              </a:defRPr>
            </a:pPr>
            <a:r>
              <a:rPr dirty="0" err="1"/>
              <a:t>Troncature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3584448" y="2377439"/>
            <a:ext cx="2423160" cy="320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A8C4D0"/>
                </a:solidFill>
                <a:latin typeface="Segoe UI"/>
              </a:defRPr>
            </a:pPr>
            <a:r>
              <a:rPr dirty="0"/>
              <a:t>Tous les chunks sous la </a:t>
            </a:r>
            <a:r>
              <a:rPr dirty="0" err="1"/>
              <a:t>limite</a:t>
            </a:r>
            <a:r>
              <a:rPr dirty="0"/>
              <a:t> du </a:t>
            </a:r>
            <a:r>
              <a:rPr dirty="0" err="1"/>
              <a:t>modèle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6300216" y="1463040"/>
            <a:ext cx="2697480" cy="1325880"/>
          </a:xfrm>
          <a:prstGeom prst="roundRect">
            <a:avLst>
              <a:gd name="adj" fmla="val 8000"/>
            </a:avLst>
          </a:prstGeom>
          <a:solidFill>
            <a:srgbClr val="0D355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37376" y="1581912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7FB3C8"/>
                </a:solidFill>
                <a:latin typeface="Segoe UI"/>
              </a:defRPr>
            </a:pPr>
            <a:r>
              <a:t>~6,5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208483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E8F4F8"/>
                </a:solidFill>
                <a:latin typeface="Segoe UI"/>
              </a:defRPr>
            </a:pPr>
            <a:r>
              <a:t>Chunks par note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2377439"/>
            <a:ext cx="2423160" cy="320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A8C4D0"/>
                </a:solidFill>
                <a:latin typeface="Segoe UI"/>
              </a:defRPr>
            </a:pPr>
            <a:r>
              <a:t>En moyenne sur les notes ingérées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53144" y="1463040"/>
            <a:ext cx="2697480" cy="1325880"/>
          </a:xfrm>
          <a:prstGeom prst="roundRect">
            <a:avLst>
              <a:gd name="adj" fmla="val 8000"/>
            </a:avLst>
          </a:prstGeom>
          <a:solidFill>
            <a:srgbClr val="0D355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90304" y="1581912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7FB3C8"/>
                </a:solidFill>
                <a:latin typeface="Segoe UI"/>
              </a:defRPr>
            </a:pPr>
            <a:r>
              <a:t>256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0304" y="2057399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E8F4F8"/>
                </a:solidFill>
                <a:latin typeface="Segoe UI"/>
              </a:defRPr>
            </a:pPr>
            <a:r>
              <a:rPr dirty="0"/>
              <a:t>Tokens max </a:t>
            </a:r>
            <a:r>
              <a:rPr dirty="0" err="1"/>
              <a:t>MiniLM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9290304" y="2313842"/>
            <a:ext cx="2423160" cy="320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A8C4D0"/>
                </a:solidFill>
                <a:latin typeface="Segoe UI"/>
              </a:defRPr>
            </a:pPr>
            <a:r>
              <a:rPr dirty="0" err="1"/>
              <a:t>Limite</a:t>
            </a:r>
            <a:r>
              <a:rPr dirty="0"/>
              <a:t> du </a:t>
            </a:r>
            <a:r>
              <a:rPr dirty="0" err="1"/>
              <a:t>modèle</a:t>
            </a:r>
            <a:r>
              <a:rPr dirty="0"/>
              <a:t> </a:t>
            </a:r>
            <a:r>
              <a:rPr dirty="0" err="1"/>
              <a:t>d'embedding</a:t>
            </a:r>
            <a:r>
              <a:rPr dirty="0"/>
              <a:t> </a:t>
            </a:r>
            <a:r>
              <a:rPr dirty="0" err="1"/>
              <a:t>respectée</a:t>
            </a:r>
            <a:endParaRPr dirty="0"/>
          </a:p>
        </p:txBody>
      </p:sp>
      <p:sp>
        <p:nvSpPr>
          <p:cNvPr id="21" name="Rounded Rectangle 20"/>
          <p:cNvSpPr/>
          <p:nvPr/>
        </p:nvSpPr>
        <p:spPr>
          <a:xfrm>
            <a:off x="594360" y="3397119"/>
            <a:ext cx="5486400" cy="2532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-6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3506847"/>
            <a:ext cx="5266944" cy="2313184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6217920" y="3416200"/>
            <a:ext cx="5527040" cy="26310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-6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754" y="3631897"/>
            <a:ext cx="5457883" cy="223621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94360" y="6492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50" b="0">
                <a:solidFill>
                  <a:srgbClr val="A8C4D0"/>
                </a:solidFill>
                <a:latin typeface="Segoe UI"/>
              </a:defRPr>
            </a:pPr>
            <a:r>
              <a:t>MedAssist — Projet LLMOps ·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50" b="0">
                <a:solidFill>
                  <a:srgbClr val="A8C4D0"/>
                </a:solidFill>
                <a:latin typeface="Segoe U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Espace d'embedding — visualisation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1554480" cy="41148"/>
          </a:xfrm>
          <a:prstGeom prst="rect">
            <a:avLst/>
          </a:prstGeom>
          <a:solidFill>
            <a:srgbClr val="7FB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3504" y="10241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50" b="0">
                <a:solidFill>
                  <a:srgbClr val="A8C4D0"/>
                </a:solidFill>
                <a:latin typeface="Segoe UI"/>
              </a:defRPr>
            </a:pPr>
            <a:r>
              <a:t>all-MiniLM-L6-v2 · 384 dimensions · projection PCA 2D · similarité cosinus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07265"/>
            <a:ext cx="5760720" cy="43578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-7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816993"/>
            <a:ext cx="5541264" cy="413841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92240" y="2615574"/>
            <a:ext cx="5303520" cy="244981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-7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2725302"/>
            <a:ext cx="5084064" cy="223035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92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50" b="0">
                <a:solidFill>
                  <a:srgbClr val="A8C4D0"/>
                </a:solidFill>
                <a:latin typeface="Segoe UI"/>
              </a:defRPr>
            </a:pPr>
            <a:r>
              <a:t>MedAssist — Projet LLMOps ·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50" b="0">
                <a:solidFill>
                  <a:srgbClr val="A8C4D0"/>
                </a:solidFill>
                <a:latin typeface="Segoe U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Décisions techniques et trade-offs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1554480" cy="41148"/>
          </a:xfrm>
          <a:prstGeom prst="rect">
            <a:avLst/>
          </a:prstGeom>
          <a:solidFill>
            <a:srgbClr val="7FB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3504" y="10241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50" b="0">
                <a:solidFill>
                  <a:srgbClr val="A8C4D0"/>
                </a:solidFill>
                <a:latin typeface="Segoe UI"/>
              </a:defRPr>
            </a:pPr>
            <a:r>
              <a:t>Chaque choix est un compromis assumé — et documenté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11018520" cy="1115568"/>
          </a:xfrm>
          <a:prstGeom prst="roundRect">
            <a:avLst>
              <a:gd name="adj" fmla="val 8000"/>
            </a:avLst>
          </a:prstGeom>
          <a:solidFill>
            <a:srgbClr val="0D355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50" b="1">
                <a:solidFill>
                  <a:srgbClr val="FFFFFF"/>
                </a:solidFill>
                <a:latin typeface="Segoe UI"/>
              </a:defRPr>
            </a:pPr>
            <a:r>
              <a:t>LLM : Claude Haiku 4.5 via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6712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7FB3C8"/>
                </a:solidFill>
                <a:latin typeface="Segoe UI"/>
              </a:defRPr>
            </a:pPr>
            <a:r>
              <a:t>vs modèle local (Mistral 7B)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709928"/>
            <a:ext cx="713232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50" b="0">
                <a:solidFill>
                  <a:srgbClr val="A8C4D0"/>
                </a:solidFill>
                <a:latin typeface="Segoe UI"/>
              </a:defRPr>
            </a:pPr>
            <a:r>
              <a:rPr dirty="0" err="1"/>
              <a:t>Aucun</a:t>
            </a:r>
            <a:r>
              <a:rPr dirty="0"/>
              <a:t> GPU </a:t>
            </a:r>
            <a:r>
              <a:rPr dirty="0" err="1"/>
              <a:t>requis</a:t>
            </a:r>
            <a:r>
              <a:rPr dirty="0"/>
              <a:t>, </a:t>
            </a:r>
            <a:r>
              <a:rPr dirty="0" err="1"/>
              <a:t>qualité</a:t>
            </a:r>
            <a:r>
              <a:rPr dirty="0"/>
              <a:t> et </a:t>
            </a:r>
            <a:r>
              <a:rPr dirty="0" err="1"/>
              <a:t>latence</a:t>
            </a:r>
            <a:r>
              <a:rPr dirty="0"/>
              <a:t> stables, </a:t>
            </a:r>
            <a:r>
              <a:rPr dirty="0" err="1"/>
              <a:t>coût</a:t>
            </a:r>
            <a:r>
              <a:rPr dirty="0"/>
              <a:t> à </a:t>
            </a:r>
            <a:r>
              <a:rPr dirty="0" err="1"/>
              <a:t>l'usage</a:t>
            </a:r>
            <a:r>
              <a:rPr dirty="0"/>
              <a:t> (~0,3 </a:t>
            </a:r>
            <a:r>
              <a:rPr lang="en-US" dirty="0"/>
              <a:t>$</a:t>
            </a:r>
            <a:r>
              <a:rPr dirty="0"/>
              <a:t>/</a:t>
            </a:r>
            <a:r>
              <a:rPr dirty="0" err="1"/>
              <a:t>requête</a:t>
            </a:r>
            <a:r>
              <a:rPr dirty="0"/>
              <a:t>). </a:t>
            </a:r>
            <a:r>
              <a:rPr dirty="0" err="1"/>
              <a:t>Contrepartie</a:t>
            </a:r>
            <a:r>
              <a:rPr dirty="0"/>
              <a:t> : </a:t>
            </a:r>
            <a:r>
              <a:rPr dirty="0" err="1"/>
              <a:t>dépendance</a:t>
            </a:r>
            <a:r>
              <a:rPr dirty="0"/>
              <a:t> à un </a:t>
            </a:r>
            <a:r>
              <a:rPr dirty="0" err="1"/>
              <a:t>fournisseur</a:t>
            </a:r>
            <a:r>
              <a:rPr dirty="0"/>
              <a:t> — acceptable car données </a:t>
            </a:r>
            <a:r>
              <a:rPr dirty="0" err="1"/>
              <a:t>synthétiques</a:t>
            </a:r>
            <a:r>
              <a:rPr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807208"/>
            <a:ext cx="11018520" cy="1115568"/>
          </a:xfrm>
          <a:prstGeom prst="roundRect">
            <a:avLst>
              <a:gd name="adj" fmla="val 8000"/>
            </a:avLst>
          </a:prstGeom>
          <a:solidFill>
            <a:srgbClr val="0D355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89864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50" b="1">
                <a:solidFill>
                  <a:srgbClr val="FFFFFF"/>
                </a:solidFill>
                <a:latin typeface="Segoe UI"/>
              </a:defRPr>
            </a:pPr>
            <a:r>
              <a:t>Embeddings : all-MiniLM-L6-v2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7413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7FB3C8"/>
                </a:solidFill>
                <a:latin typeface="Segoe UI"/>
              </a:defRPr>
            </a:pPr>
            <a:r>
              <a:t>vs modèle biomédical (BioLORD…)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916936"/>
            <a:ext cx="7132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50" b="0">
                <a:solidFill>
                  <a:srgbClr val="A8C4D0"/>
                </a:solidFill>
                <a:latin typeface="Segoe UI"/>
              </a:defRPr>
            </a:pPr>
            <a:r>
              <a:t>Léger (CPU), 384 dims, retrieval rapide. Limite identifiée : anglophone et généraliste — piste d'amélioration mesurée par RAGAS.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014216"/>
            <a:ext cx="11018520" cy="1115568"/>
          </a:xfrm>
          <a:prstGeom prst="roundRect">
            <a:avLst>
              <a:gd name="adj" fmla="val 8000"/>
            </a:avLst>
          </a:prstGeom>
          <a:solidFill>
            <a:srgbClr val="0D355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10565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50" b="1">
                <a:solidFill>
                  <a:srgbClr val="FFFFFF"/>
                </a:solidFill>
                <a:latin typeface="Segoe UI"/>
              </a:defRPr>
            </a:pPr>
            <a:r>
              <a:t>Base vectorielle : Qdrant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58114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7FB3C8"/>
                </a:solidFill>
                <a:latin typeface="Segoe UI"/>
              </a:defRPr>
            </a:pPr>
            <a:r>
              <a:t>vs FAISS / pgvector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4123944"/>
            <a:ext cx="7132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50" b="0">
                <a:solidFill>
                  <a:srgbClr val="A8C4D0"/>
                </a:solidFill>
                <a:latin typeface="Segoe UI"/>
              </a:defRPr>
            </a:pPr>
            <a:r>
              <a:t>Serveur dédié avec filtrage par payload (note_id), dashboard intégré, persistance via volume Docker. FAISS : pas de filtrage natif ni de serveur.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5221224"/>
            <a:ext cx="11018520" cy="1115568"/>
          </a:xfrm>
          <a:prstGeom prst="roundRect">
            <a:avLst>
              <a:gd name="adj" fmla="val 8000"/>
            </a:avLst>
          </a:prstGeom>
          <a:solidFill>
            <a:srgbClr val="0D355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5312664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50" b="1">
                <a:solidFill>
                  <a:srgbClr val="FFFFFF"/>
                </a:solidFill>
                <a:latin typeface="Segoe UI"/>
              </a:defRPr>
            </a:pPr>
            <a:r>
              <a:t>Juge : RAGAS + Claude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7881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7FB3C8"/>
                </a:solidFill>
                <a:latin typeface="Segoe UI"/>
              </a:defRPr>
            </a:pPr>
            <a:r>
              <a:t>vs évaluation manuelle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5330952"/>
            <a:ext cx="7132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50" b="0">
                <a:solidFill>
                  <a:srgbClr val="A8C4D0"/>
                </a:solidFill>
                <a:latin typeface="Segoe UI"/>
              </a:defRPr>
            </a:pPr>
            <a:r>
              <a:t>Métriques standardisées, reproductibles, verdicts justifiés et auditables dans les traces MLflow.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92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50" b="0">
                <a:solidFill>
                  <a:srgbClr val="A8C4D0"/>
                </a:solidFill>
                <a:latin typeface="Segoe UI"/>
              </a:defRPr>
            </a:pPr>
            <a:r>
              <a:t>MedAssist — Projet LLMOps ·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50" b="0">
                <a:solidFill>
                  <a:srgbClr val="A8C4D0"/>
                </a:solidFill>
                <a:latin typeface="Segoe U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Protocole d'évaluation et prompt système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1554480" cy="41148"/>
          </a:xfrm>
          <a:prstGeom prst="rect">
            <a:avLst/>
          </a:prstGeom>
          <a:solidFill>
            <a:srgbClr val="7FB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3504" y="10241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50" b="0">
                <a:solidFill>
                  <a:srgbClr val="A8C4D0"/>
                </a:solidFill>
                <a:latin typeface="Segoe UI"/>
              </a:defRPr>
            </a:pPr>
            <a:r>
              <a:t>Comment les scores sont produits — et comment l'anti-hallucination est imposée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7FB3C8"/>
                </a:solidFill>
                <a:latin typeface="Segoe UI"/>
              </a:defRPr>
            </a:pPr>
            <a:r>
              <a:t>Protocole RAGAS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783080"/>
            <a:ext cx="5212080" cy="987552"/>
          </a:xfrm>
          <a:prstGeom prst="roundRect">
            <a:avLst>
              <a:gd name="adj" fmla="val 8000"/>
            </a:avLst>
          </a:prstGeom>
          <a:solidFill>
            <a:srgbClr val="0D355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856231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1. Jeu d'évaluation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1945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50" b="0">
                <a:solidFill>
                  <a:srgbClr val="A8C4D0"/>
                </a:solidFill>
                <a:latin typeface="Segoe UI"/>
              </a:defRPr>
            </a:pPr>
            <a:r>
              <a:t>Paires question/réponse de référence du dataset Asclepius (stockées dans Qdrant) — n = 5 pour la démonstration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898648"/>
            <a:ext cx="5212080" cy="987552"/>
          </a:xfrm>
          <a:prstGeom prst="roundRect">
            <a:avLst>
              <a:gd name="adj" fmla="val 8000"/>
            </a:avLst>
          </a:prstGeom>
          <a:solidFill>
            <a:srgbClr val="0D355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29718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2. Réponses du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310128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50" b="0">
                <a:solidFill>
                  <a:srgbClr val="A8C4D0"/>
                </a:solidFill>
                <a:latin typeface="Segoe UI"/>
              </a:defRPr>
            </a:pPr>
            <a:r>
              <a:t>Chaque question passe par le vrai pipeline (retrieval filtré par note + Claude)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4014215"/>
            <a:ext cx="5212080" cy="987552"/>
          </a:xfrm>
          <a:prstGeom prst="roundRect">
            <a:avLst>
              <a:gd name="adj" fmla="val 8000"/>
            </a:avLst>
          </a:prstGeom>
          <a:solidFill>
            <a:srgbClr val="0D355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2" y="408736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3. Juge LLM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4425696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50" b="0">
                <a:solidFill>
                  <a:srgbClr val="A8C4D0"/>
                </a:solidFill>
                <a:latin typeface="Segoe UI"/>
              </a:defRPr>
            </a:pPr>
            <a:r>
              <a:t>Claude évalue 3 métriques ; chaque verdict est justifié (statement / verdict / reason)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5129783"/>
            <a:ext cx="5212080" cy="987552"/>
          </a:xfrm>
          <a:prstGeom prst="roundRect">
            <a:avLst>
              <a:gd name="adj" fmla="val 8000"/>
            </a:avLst>
          </a:prstGeom>
          <a:solidFill>
            <a:srgbClr val="0D355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520293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4. Traçabilité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5541264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50" b="0">
                <a:solidFill>
                  <a:srgbClr val="A8C4D0"/>
                </a:solidFill>
                <a:latin typeface="Segoe UI"/>
              </a:defRPr>
            </a:pPr>
            <a:r>
              <a:t>Scores loggés dans MLflow, verdicts consultables dans les traces — reproductible via python -m src.monitoring.run_evaluation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417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7FB3C8"/>
                </a:solidFill>
                <a:latin typeface="Segoe UI"/>
              </a:defRPr>
            </a:pPr>
            <a:r>
              <a:t>Prompt système (versionné dans git)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783080"/>
            <a:ext cx="5349240" cy="416052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196596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E8F4F8"/>
                </a:solidFill>
                <a:latin typeface="Segoe UI"/>
              </a:defRPr>
            </a:pPr>
            <a:r>
              <a:t>RÈGLES ABSOLUES :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E8F4F8"/>
                </a:solidFill>
                <a:latin typeface="Segoe UI"/>
              </a:defRPr>
            </a:pPr>
            <a:r>
              <a:t>1. Répondre UNIQUEMENT à partir du contexte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E8F4F8"/>
                </a:solidFill>
                <a:latin typeface="Segoe UI"/>
              </a:defRPr>
            </a:pPr>
            <a:r>
              <a:t>    de notes cliniques fourni.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E8F4F8"/>
                </a:solidFill>
                <a:latin typeface="Segoe UI"/>
              </a:defRPr>
            </a:pPr>
            <a:r>
              <a:t>2. Information absente → le dire explicitement :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E8F4F8"/>
                </a:solidFill>
                <a:latin typeface="Segoe UI"/>
              </a:defRPr>
            </a:pPr>
            <a:r>
              <a:t>    « Je ne trouve pas cette information… »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E8F4F8"/>
                </a:solidFill>
                <a:latin typeface="Segoe UI"/>
              </a:defRPr>
            </a:pPr>
            <a:r>
              <a:t>3. JAMAIS d'hypothèse médicale au-delà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E8F4F8"/>
                </a:solidFill>
                <a:latin typeface="Segoe UI"/>
              </a:defRPr>
            </a:pPr>
            <a:r>
              <a:t>    du contexte.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E8F4F8"/>
                </a:solidFill>
                <a:latin typeface="Segoe UI"/>
              </a:defRPr>
            </a:pPr>
            <a:r>
              <a:t>4. Toujours citer les notes sources (note_id).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E8F4F8"/>
                </a:solidFill>
                <a:latin typeface="Segoe UI"/>
              </a:defRPr>
            </a:pPr>
            <a:r>
              <a:t>5. Langage clair, précis, professionnel.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92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50" b="0">
                <a:solidFill>
                  <a:srgbClr val="A8C4D0"/>
                </a:solidFill>
                <a:latin typeface="Segoe UI"/>
              </a:defRPr>
            </a:pPr>
            <a:r>
              <a:t>MedAssist — Projet LLMOps ·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50" b="0">
                <a:solidFill>
                  <a:srgbClr val="A8C4D0"/>
                </a:solidFill>
                <a:latin typeface="Segoe U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Évaluation RAGAS — scores mesurés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1554480" cy="41148"/>
          </a:xfrm>
          <a:prstGeom prst="rect">
            <a:avLst/>
          </a:prstGeom>
          <a:solidFill>
            <a:srgbClr val="7FB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3504" y="10241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50" b="0">
                <a:solidFill>
                  <a:srgbClr val="A8C4D0"/>
                </a:solidFill>
                <a:latin typeface="Segoe UI"/>
              </a:defRPr>
            </a:pPr>
            <a:r>
              <a:t>Claude comme LLM juge · run MLflow cd4a91b0 · verdicts justifiés auditables dans les traces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3566160" cy="3291840"/>
          </a:xfrm>
          <a:prstGeom prst="roundRect">
            <a:avLst>
              <a:gd name="adj" fmla="val 8000"/>
            </a:avLst>
          </a:prstGeom>
          <a:solidFill>
            <a:srgbClr val="0D355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4000" b="1">
                <a:solidFill>
                  <a:srgbClr val="7FB3C8"/>
                </a:solidFill>
                <a:latin typeface="Segoe UI"/>
              </a:defRPr>
            </a:pPr>
            <a:r>
              <a:t>0.75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Faithfulness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4495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50" b="0">
                <a:solidFill>
                  <a:srgbClr val="A8C4D0"/>
                </a:solidFill>
                <a:latin typeface="Segoe UI"/>
              </a:defRPr>
            </a:pPr>
            <a:r>
              <a:t>cible ≥ 0.80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290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A8C4D0"/>
                </a:solidFill>
                <a:latin typeface="Segoe UI"/>
              </a:defRPr>
            </a:pPr>
            <a:r>
              <a:t>Les réponses sont fidèles au contexte récupéré : le prompt anti-hallucination fonctionne.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91640"/>
            <a:ext cx="3566160" cy="3291840"/>
          </a:xfrm>
          <a:prstGeom prst="roundRect">
            <a:avLst>
              <a:gd name="adj" fmla="val 8000"/>
            </a:avLst>
          </a:prstGeom>
          <a:solidFill>
            <a:srgbClr val="0D355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92024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4000" b="1">
                <a:solidFill>
                  <a:srgbClr val="F59E0B"/>
                </a:solidFill>
                <a:latin typeface="Segoe UI"/>
              </a:defRPr>
            </a:pPr>
            <a:r>
              <a:t>0.09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6974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Answer Relevancy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04495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50" b="0">
                <a:solidFill>
                  <a:srgbClr val="A8C4D0"/>
                </a:solidFill>
                <a:latin typeface="Segoe UI"/>
              </a:defRPr>
            </a:pPr>
            <a:r>
              <a:t>cible ≥ 0.75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4290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A8C4D0"/>
                </a:solidFill>
                <a:latin typeface="Segoe UI"/>
              </a:defRPr>
            </a:pPr>
            <a:r>
              <a:t>Artefact mesuré et expliqué : questions en anglais, réponses en français, embeddings anglophones.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1691640"/>
            <a:ext cx="3566160" cy="3291840"/>
          </a:xfrm>
          <a:prstGeom prst="roundRect">
            <a:avLst>
              <a:gd name="adj" fmla="val 8000"/>
            </a:avLst>
          </a:prstGeom>
          <a:solidFill>
            <a:srgbClr val="0D355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192024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4000" b="1">
                <a:solidFill>
                  <a:srgbClr val="F59E0B"/>
                </a:solidFill>
                <a:latin typeface="Segoe UI"/>
              </a:defRPr>
            </a:pPr>
            <a:r>
              <a:t>0.18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6974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Context Precision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04495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50" b="0">
                <a:solidFill>
                  <a:srgbClr val="A8C4D0"/>
                </a:solidFill>
                <a:latin typeface="Segoe UI"/>
              </a:defRPr>
            </a:pPr>
            <a:r>
              <a:t>cible ≥ 0.70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4290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A8C4D0"/>
                </a:solidFill>
                <a:latin typeface="Segoe UI"/>
              </a:defRPr>
            </a:pPr>
            <a:r>
              <a:t>Biais du jeu d'évaluation : les « questions » Asclepius sont souvent des consignes NLP, pas des questions cliniques.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5257800"/>
            <a:ext cx="11018520" cy="86868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5413248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50" b="0">
                <a:solidFill>
                  <a:srgbClr val="E8F4F8"/>
                </a:solidFill>
                <a:latin typeface="Segoe UI"/>
              </a:defRPr>
            </a:pPr>
            <a:r>
              <a:t>Des métriques honnêtes et défendables : chaque verdict du juge (affirmation, verdict, justification) est consultable dans les traces MLflow — le jury peut tout vérifier.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92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50" b="0">
                <a:solidFill>
                  <a:srgbClr val="A8C4D0"/>
                </a:solidFill>
                <a:latin typeface="Segoe UI"/>
              </a:defRPr>
            </a:pPr>
            <a:r>
              <a:t>MedAssist — Projet LLMOps ·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50" b="0">
                <a:solidFill>
                  <a:srgbClr val="A8C4D0"/>
                </a:solidFill>
                <a:latin typeface="Segoe U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Interface React — consultation d'un dossier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1554480" cy="41148"/>
          </a:xfrm>
          <a:prstGeom prst="rect">
            <a:avLst/>
          </a:prstGeom>
          <a:solidFill>
            <a:srgbClr val="7FB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3504" y="10241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50" b="0">
                <a:solidFill>
                  <a:srgbClr val="A8C4D0"/>
                </a:solidFill>
                <a:latin typeface="Segoe UI"/>
              </a:defRPr>
            </a:pPr>
            <a:r>
              <a:t>Annuaire de 500 dossiers, fiche structurée, vraie réponse Claude sourcée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4788" y="1417320"/>
            <a:ext cx="7768742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3-reponse-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516" y="1527048"/>
            <a:ext cx="7549286" cy="47183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098280" y="2011680"/>
            <a:ext cx="2743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A8C4D0"/>
                </a:solidFill>
                <a:latin typeface="Segoe UI"/>
              </a:defRPr>
            </a:pPr>
            <a:r>
              <a:t>• Recherche instantanée parmi les dossiers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C4D0"/>
                </a:solidFill>
                <a:latin typeface="Segoe UI"/>
              </a:defRPr>
            </a:pPr>
            <a:endParaRPr/>
          </a:p>
          <a:p>
            <a:pPr algn="l">
              <a:spcAft>
                <a:spcPts val="400"/>
              </a:spcAft>
              <a:defRPr sz="1300" b="0">
                <a:solidFill>
                  <a:srgbClr val="A8C4D0"/>
                </a:solidFill>
                <a:latin typeface="Segoe UI"/>
              </a:defRPr>
            </a:pPr>
            <a:r>
              <a:t>• Note clinique reconstituée en sections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C4D0"/>
                </a:solidFill>
                <a:latin typeface="Segoe UI"/>
              </a:defRPr>
            </a:pPr>
            <a:endParaRPr/>
          </a:p>
          <a:p>
            <a:pPr algn="l">
              <a:spcAft>
                <a:spcPts val="400"/>
              </a:spcAft>
              <a:defRPr sz="1300" b="0">
                <a:solidFill>
                  <a:srgbClr val="A8C4D0"/>
                </a:solidFill>
                <a:latin typeface="Segoe UI"/>
              </a:defRPr>
            </a:pPr>
            <a:r>
              <a:t>• Suggestions de questions, top-k réglable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C4D0"/>
                </a:solidFill>
                <a:latin typeface="Segoe UI"/>
              </a:defRPr>
            </a:pPr>
            <a:endParaRPr/>
          </a:p>
          <a:p>
            <a:pPr algn="l">
              <a:spcAft>
                <a:spcPts val="400"/>
              </a:spcAft>
              <a:defRPr sz="1300" b="0">
                <a:solidFill>
                  <a:srgbClr val="A8C4D0"/>
                </a:solidFill>
                <a:latin typeface="Segoe UI"/>
              </a:defRPr>
            </a:pPr>
            <a:r>
              <a:t>• Sources citées sous chaque réponse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8C4D0"/>
                </a:solidFill>
                <a:latin typeface="Segoe UI"/>
              </a:defRPr>
            </a:pPr>
            <a:endParaRPr/>
          </a:p>
          <a:p>
            <a:pPr algn="l">
              <a:spcAft>
                <a:spcPts val="400"/>
              </a:spcAft>
              <a:defRPr sz="1300" b="0">
                <a:solidFill>
                  <a:srgbClr val="A8C4D0"/>
                </a:solidFill>
                <a:latin typeface="Segoe UI"/>
              </a:defRPr>
            </a:pPr>
            <a:r>
              <a:t>• Statut des services en temps réel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92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50" b="0">
                <a:solidFill>
                  <a:srgbClr val="A8C4D0"/>
                </a:solidFill>
                <a:latin typeface="Segoe UI"/>
              </a:defRPr>
            </a:pPr>
            <a:r>
              <a:t>MedAssist — Projet LLMOps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50" b="0">
                <a:solidFill>
                  <a:srgbClr val="A8C4D0"/>
                </a:solidFill>
                <a:latin typeface="Segoe U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Monitoring MLflow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1554480" cy="41148"/>
          </a:xfrm>
          <a:prstGeom prst="rect">
            <a:avLst/>
          </a:prstGeom>
          <a:solidFill>
            <a:srgbClr val="7FB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3504" y="10241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50" b="0">
                <a:solidFill>
                  <a:srgbClr val="A8C4D0"/>
                </a:solidFill>
                <a:latin typeface="Segoe UI"/>
              </a:defRPr>
            </a:pPr>
            <a:r>
              <a:t>21+ runs (ingestions, requêtes, évaluations) · traces LLM complètes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19097"/>
            <a:ext cx="5577840" cy="356844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mlflow-ru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2028825"/>
            <a:ext cx="5358383" cy="334898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63640" y="1919097"/>
            <a:ext cx="5577840" cy="356844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mlflow-tra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2028825"/>
            <a:ext cx="5358383" cy="334898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59893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A8C4D0"/>
                </a:solidFill>
                <a:latin typeface="Segoe UI"/>
              </a:defRPr>
            </a:pPr>
            <a:r>
              <a:t>Runs : paramètres et métriques de chaque opération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59893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A8C4D0"/>
                </a:solidFill>
                <a:latin typeface="Segoe UI"/>
              </a:defRPr>
            </a:pPr>
            <a:r>
              <a:t>Traces : prompt, contexte, réponse, latence de chaque appel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92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50" b="0">
                <a:solidFill>
                  <a:srgbClr val="A8C4D0"/>
                </a:solidFill>
                <a:latin typeface="Segoe UI"/>
              </a:defRPr>
            </a:pPr>
            <a:r>
              <a:t>MedAssist — Projet LLMOps ·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50" b="0">
                <a:solidFill>
                  <a:srgbClr val="A8C4D0"/>
                </a:solidFill>
                <a:latin typeface="Segoe U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Coûts — calculés par MLflow sur les traces réelles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1554480" cy="41148"/>
          </a:xfrm>
          <a:prstGeom prst="rect">
            <a:avLst/>
          </a:prstGeom>
          <a:solidFill>
            <a:srgbClr val="7FB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3504" y="10241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50" b="0">
                <a:solidFill>
                  <a:srgbClr val="A8C4D0"/>
                </a:solidFill>
                <a:latin typeface="Segoe UI"/>
              </a:defRPr>
            </a:pPr>
            <a:r>
              <a:t>Tarif officiel Claude Haiku 4.5 : 1 $ / M tokens entrée · 5 $ / M tokens sortie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0527" y="1371600"/>
            <a:ext cx="10806185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55" y="1481328"/>
            <a:ext cx="10586729" cy="302666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94360" y="480060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0D355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491032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7FB3C8"/>
                </a:solidFill>
                <a:latin typeface="Segoe UI"/>
              </a:defRPr>
            </a:pPr>
            <a:r>
              <a:rPr dirty="0"/>
              <a:t>5,3 </a:t>
            </a:r>
            <a:r>
              <a:rPr lang="en-US" dirty="0"/>
              <a:t>$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777240" y="532180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50" b="1">
                <a:solidFill>
                  <a:srgbClr val="E8F4F8"/>
                </a:solidFill>
                <a:latin typeface="Segoe UI"/>
              </a:defRPr>
            </a:pPr>
            <a:r>
              <a:t>coût total de la période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32704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A8C4D0"/>
                </a:solidFill>
                <a:latin typeface="Segoe UI"/>
              </a:defRPr>
            </a:pPr>
            <a:r>
              <a:t>9 traces : requêtes cliniques + évaluation RAGAS complète (juge compris)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480060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0D355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03419" y="491032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7FB3C8"/>
                </a:solidFill>
                <a:latin typeface="Segoe UI"/>
              </a:defRPr>
            </a:pPr>
            <a:r>
              <a:rPr dirty="0"/>
              <a:t>~0,3 </a:t>
            </a:r>
            <a:r>
              <a:rPr lang="en-US" dirty="0"/>
              <a:t>$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4507992" y="532180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50" b="1">
                <a:solidFill>
                  <a:srgbClr val="E8F4F8"/>
                </a:solidFill>
                <a:latin typeface="Segoe UI"/>
              </a:defRPr>
            </a:pPr>
            <a:r>
              <a:t>par consultation clinicien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5632704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A8C4D0"/>
                </a:solidFill>
                <a:latin typeface="Segoe UI"/>
              </a:defRPr>
            </a:pPr>
            <a:r>
              <a:t>~1 100 tokens entrée + ~300 sortie par requête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5864" y="480060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0D355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38744" y="491032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7FB3C8"/>
                </a:solidFill>
                <a:latin typeface="Segoe UI"/>
              </a:defRPr>
            </a:pPr>
            <a:r>
              <a:t>100 % Haiku 4.5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532180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50" b="1">
                <a:solidFill>
                  <a:srgbClr val="E8F4F8"/>
                </a:solidFill>
                <a:latin typeface="Segoe UI"/>
              </a:defRPr>
            </a:pPr>
            <a:r>
              <a:t>un seul modèle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5632704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A8C4D0"/>
                </a:solidFill>
                <a:latin typeface="Segoe UI"/>
              </a:defRPr>
            </a:pPr>
            <a:r>
              <a:t>÷3 vs Sonnet 4.6 — trade-off documenté, suffisant pour l'extraction sourcée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92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50" b="0">
                <a:solidFill>
                  <a:srgbClr val="A8C4D0"/>
                </a:solidFill>
                <a:latin typeface="Segoe UI"/>
              </a:defRPr>
            </a:pPr>
            <a:r>
              <a:t>MedAssist — Projet LLMOps ·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50" b="0">
                <a:solidFill>
                  <a:srgbClr val="A8C4D0"/>
                </a:solidFill>
                <a:latin typeface="Segoe U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Latence, fiabilité et consommation de tokens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1554480" cy="41148"/>
          </a:xfrm>
          <a:prstGeom prst="rect">
            <a:avLst/>
          </a:prstGeom>
          <a:solidFill>
            <a:srgbClr val="7FB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3504" y="10241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50" b="0">
                <a:solidFill>
                  <a:srgbClr val="A8C4D0"/>
                </a:solidFill>
                <a:latin typeface="Segoe UI"/>
              </a:defRPr>
            </a:pPr>
            <a:r>
              <a:t>Panneaux Usage de MLflow — percentiles p50 / p90 / p99 sur les traces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908" y="1371599"/>
            <a:ext cx="8261942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636" y="1481327"/>
            <a:ext cx="8042486" cy="215798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03504" y="3840480"/>
            <a:ext cx="8172618" cy="24099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072" y="3950208"/>
            <a:ext cx="7885571" cy="215798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098280" y="1600200"/>
            <a:ext cx="2743200" cy="1417320"/>
          </a:xfrm>
          <a:prstGeom prst="roundRect">
            <a:avLst>
              <a:gd name="adj" fmla="val 8000"/>
            </a:avLst>
          </a:prstGeom>
          <a:solidFill>
            <a:srgbClr val="0D355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53728" y="170992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7FB3C8"/>
                </a:solidFill>
                <a:latin typeface="Segoe UI"/>
              </a:defRPr>
            </a:pPr>
            <a:r>
              <a:t>p50 ≈ 3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53728" y="2130552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A8C4D0"/>
                </a:solidFill>
                <a:latin typeface="Segoe UI"/>
              </a:defRPr>
            </a:pPr>
            <a:r>
              <a:t>le pic p99 (52 s) est l'évaluation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A8C4D0"/>
                </a:solidFill>
                <a:latin typeface="Segoe UI"/>
              </a:defRPr>
            </a:pPr>
            <a:r>
              <a:t>RAGAS, pas une requête clinicien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3172968"/>
            <a:ext cx="2743200" cy="1417320"/>
          </a:xfrm>
          <a:prstGeom prst="roundRect">
            <a:avLst>
              <a:gd name="adj" fmla="val 8000"/>
            </a:avLst>
          </a:prstGeom>
          <a:solidFill>
            <a:srgbClr val="0D355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53728" y="328269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7FB3C8"/>
                </a:solidFill>
                <a:latin typeface="Segoe UI"/>
              </a:defRPr>
            </a:pPr>
            <a:r>
              <a:t>0 erreur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53728" y="37033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A8C4D0"/>
                </a:solidFill>
                <a:latin typeface="Segoe UI"/>
              </a:defRPr>
            </a:pPr>
            <a:r>
              <a:t>taux d'erreur 0,0 % sur la période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4745736"/>
            <a:ext cx="2743200" cy="1417320"/>
          </a:xfrm>
          <a:prstGeom prst="roundRect">
            <a:avLst>
              <a:gd name="adj" fmla="val 8000"/>
            </a:avLst>
          </a:prstGeom>
          <a:solidFill>
            <a:srgbClr val="0D355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53728" y="485546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7FB3C8"/>
                </a:solidFill>
                <a:latin typeface="Segoe UI"/>
              </a:defRPr>
            </a:pPr>
            <a:r>
              <a:t>26,1K / 5,5K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53728" y="5276088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A8C4D0"/>
                </a:solidFill>
                <a:latin typeface="Segoe UI"/>
              </a:defRPr>
            </a:pPr>
            <a:r>
              <a:t>entrée vs sortie : le contexte domine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A8C4D0"/>
                </a:solidFill>
                <a:latin typeface="Segoe UI"/>
              </a:defRPr>
            </a:pPr>
            <a:r>
              <a:t>→ levier futur : prompt caching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92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50" b="0">
                <a:solidFill>
                  <a:srgbClr val="A8C4D0"/>
                </a:solidFill>
                <a:latin typeface="Segoe UI"/>
              </a:defRPr>
            </a:pPr>
            <a:r>
              <a:t>MedAssist — Projet LLMOps ·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50" b="0">
                <a:solidFill>
                  <a:srgbClr val="A8C4D0"/>
                </a:solidFill>
                <a:latin typeface="Segoe U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CI/CD et stratégie de tests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1554480" cy="41148"/>
          </a:xfrm>
          <a:prstGeom prst="rect">
            <a:avLst/>
          </a:prstGeom>
          <a:solidFill>
            <a:srgbClr val="7FB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3504" y="10241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50" b="0">
                <a:solidFill>
                  <a:srgbClr val="A8C4D0"/>
                </a:solidFill>
                <a:latin typeface="Segoe UI"/>
              </a:defRPr>
            </a:pPr>
            <a:r>
              <a:t>Comment tester un système LLM sans appeler le LLM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36192"/>
            <a:ext cx="6949440" cy="44256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72400" y="1737360"/>
            <a:ext cx="3840480" cy="1371600"/>
          </a:xfrm>
          <a:prstGeom prst="roundRect">
            <a:avLst>
              <a:gd name="adj" fmla="val 8000"/>
            </a:avLst>
          </a:prstGeom>
          <a:solidFill>
            <a:srgbClr val="0D355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79" y="184708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3 jobs séquentiels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24028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50" b="0">
                <a:solidFill>
                  <a:srgbClr val="A8C4D0"/>
                </a:solidFill>
                <a:latin typeface="Segoe UI"/>
              </a:defRPr>
            </a:pPr>
            <a:r>
              <a:t>lint (black + flake8) → 38 tests pytest avec couverture → build Docker, à chaque push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3218688"/>
            <a:ext cx="3840480" cy="1371600"/>
          </a:xfrm>
          <a:prstGeom prst="roundRect">
            <a:avLst>
              <a:gd name="adj" fmla="val 8000"/>
            </a:avLst>
          </a:prstGeom>
          <a:solidFill>
            <a:srgbClr val="0D355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79" y="332841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Tous les appels externes mockés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3721608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50" b="0">
                <a:solidFill>
                  <a:srgbClr val="A8C4D0"/>
                </a:solidFill>
                <a:latin typeface="Segoe UI"/>
              </a:defRPr>
            </a:pPr>
            <a:r>
              <a:t>Anthropic, Qdrant, MLflow, HuggingFace : la CI est déterministe, gratuite et sans secret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4700016"/>
            <a:ext cx="3840480" cy="1371600"/>
          </a:xfrm>
          <a:prstGeom prst="roundRect">
            <a:avLst>
              <a:gd name="adj" fmla="val 8000"/>
            </a:avLst>
          </a:prstGeom>
          <a:solidFill>
            <a:srgbClr val="0D355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55279" y="480974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La CI a déjà servi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5202936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50" b="0">
                <a:solidFill>
                  <a:srgbClr val="A8C4D0"/>
                </a:solidFill>
                <a:latin typeface="Segoe UI"/>
              </a:defRPr>
            </a:pPr>
            <a:r>
              <a:t>elle a détecté un écart de formatage entre versions de black, corrigé dans la foulée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92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50" b="0">
                <a:solidFill>
                  <a:srgbClr val="A8C4D0"/>
                </a:solidFill>
                <a:latin typeface="Segoe UI"/>
              </a:defRPr>
            </a:pPr>
            <a:r>
              <a:t>MedAssist — Projet LLMOps ·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50" b="0">
                <a:solidFill>
                  <a:srgbClr val="A8C4D0"/>
                </a:solidFill>
                <a:latin typeface="Segoe UI"/>
              </a:defRPr>
            </a:pPr>
            <a:r>
              <a:t>16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5B9C5BFE-C723-30B9-FF1A-AE839B47F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330" y="1634181"/>
            <a:ext cx="6742853" cy="419969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Sécurité et conformité santé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1554480" cy="41148"/>
          </a:xfrm>
          <a:prstGeom prst="rect">
            <a:avLst/>
          </a:prstGeom>
          <a:solidFill>
            <a:srgbClr val="7FB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5394960" cy="4297680"/>
          </a:xfrm>
          <a:prstGeom prst="roundRect">
            <a:avLst>
              <a:gd name="adj" fmla="val 8000"/>
            </a:avLst>
          </a:prstGeom>
          <a:solidFill>
            <a:srgbClr val="0D355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7FB3C8"/>
                </a:solidFill>
                <a:latin typeface="Segoe UI"/>
              </a:defRPr>
            </a:pPr>
            <a:r>
              <a:t>MIS EN ŒUVRE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350" b="0">
                <a:solidFill>
                  <a:srgbClr val="E8F4F8"/>
                </a:solidFill>
                <a:latin typeface="Segoe UI"/>
              </a:defRPr>
            </a:pPr>
            <a:r>
              <a:t>• Données 100 % synthétiques : zéro RGPD,</a:t>
            </a:r>
          </a:p>
          <a:p>
            <a:pPr algn="l">
              <a:spcAft>
                <a:spcPts val="800"/>
              </a:spcAft>
              <a:defRPr sz="1350" b="0">
                <a:solidFill>
                  <a:srgbClr val="E8F4F8"/>
                </a:solidFill>
                <a:latin typeface="Segoe UI"/>
              </a:defRPr>
            </a:pPr>
            <a:r>
              <a:t>   zéro secret médical</a:t>
            </a:r>
          </a:p>
          <a:p>
            <a:pPr algn="l">
              <a:spcAft>
                <a:spcPts val="800"/>
              </a:spcAft>
              <a:defRPr sz="1350" b="0">
                <a:solidFill>
                  <a:srgbClr val="E8F4F8"/>
                </a:solidFill>
                <a:latin typeface="Segoe UI"/>
              </a:defRPr>
            </a:pPr>
            <a:r>
              <a:t>• Secrets hors du dépôt (.env ignoré par git)</a:t>
            </a:r>
          </a:p>
          <a:p>
            <a:pPr algn="l">
              <a:spcAft>
                <a:spcPts val="800"/>
              </a:spcAft>
              <a:defRPr sz="1350" b="0">
                <a:solidFill>
                  <a:srgbClr val="E8F4F8"/>
                </a:solidFill>
                <a:latin typeface="Segoe UI"/>
              </a:defRPr>
            </a:pPr>
            <a:r>
              <a:t>• Clé API optionnelle (en-tête X-API-Key)</a:t>
            </a:r>
          </a:p>
          <a:p>
            <a:pPr algn="l">
              <a:spcAft>
                <a:spcPts val="800"/>
              </a:spcAft>
              <a:defRPr sz="1350" b="0">
                <a:solidFill>
                  <a:srgbClr val="E8F4F8"/>
                </a:solidFill>
                <a:latin typeface="Segoe UI"/>
              </a:defRPr>
            </a:pPr>
            <a:r>
              <a:t>• CORS configurable par environnement</a:t>
            </a:r>
          </a:p>
          <a:p>
            <a:pPr algn="l">
              <a:spcAft>
                <a:spcPts val="800"/>
              </a:spcAft>
              <a:defRPr sz="1350" b="0">
                <a:solidFill>
                  <a:srgbClr val="E8F4F8"/>
                </a:solidFill>
                <a:latin typeface="Segoe UI"/>
              </a:defRPr>
            </a:pPr>
            <a:r>
              <a:t>• Conteneur Docker non-root</a:t>
            </a:r>
          </a:p>
          <a:p>
            <a:pPr algn="l">
              <a:spcAft>
                <a:spcPts val="800"/>
              </a:spcAft>
              <a:defRPr sz="1350" b="0">
                <a:solidFill>
                  <a:srgbClr val="E8F4F8"/>
                </a:solidFill>
                <a:latin typeface="Segoe UI"/>
              </a:defRPr>
            </a:pPr>
            <a:r>
              <a:t>• Le prompt interdit les hypothèses médicales</a:t>
            </a:r>
          </a:p>
          <a:p>
            <a:pPr algn="l">
              <a:spcAft>
                <a:spcPts val="800"/>
              </a:spcAft>
              <a:defRPr sz="1350" b="0">
                <a:solidFill>
                  <a:srgbClr val="E8F4F8"/>
                </a:solidFill>
                <a:latin typeface="Segoe UI"/>
              </a:defRPr>
            </a:pPr>
            <a:r>
              <a:t>   au-delà du dossier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394960" cy="4297680"/>
          </a:xfrm>
          <a:prstGeom prst="roundRect">
            <a:avLst>
              <a:gd name="adj" fmla="val 8000"/>
            </a:avLst>
          </a:prstGeom>
          <a:solidFill>
            <a:srgbClr val="0D3552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59E0B"/>
                </a:solidFill>
                <a:latin typeface="Segoe UI"/>
              </a:defRPr>
            </a:pPr>
            <a:r>
              <a:t>REQUIS POUR DES DONNÉES RÉELLES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846320" cy="2162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350" b="0">
                <a:solidFill>
                  <a:srgbClr val="E8F4F8"/>
                </a:solidFill>
                <a:latin typeface="Segoe UI"/>
              </a:defRPr>
            </a:pPr>
            <a:r>
              <a:rPr dirty="0"/>
              <a:t>• </a:t>
            </a:r>
            <a:r>
              <a:rPr dirty="0" err="1"/>
              <a:t>Anonymisation</a:t>
            </a:r>
            <a:r>
              <a:rPr dirty="0"/>
              <a:t> / </a:t>
            </a:r>
            <a:r>
              <a:rPr dirty="0" err="1"/>
              <a:t>pseudonymisation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amont</a:t>
            </a:r>
            <a:endParaRPr dirty="0"/>
          </a:p>
          <a:p>
            <a:pPr algn="l">
              <a:spcAft>
                <a:spcPts val="800"/>
              </a:spcAft>
              <a:defRPr sz="1350" b="0">
                <a:solidFill>
                  <a:srgbClr val="E8F4F8"/>
                </a:solidFill>
                <a:latin typeface="Segoe UI"/>
              </a:defRPr>
            </a:pPr>
            <a:r>
              <a:rPr dirty="0"/>
              <a:t>• </a:t>
            </a:r>
            <a:r>
              <a:rPr dirty="0" err="1"/>
              <a:t>Hébergement</a:t>
            </a:r>
            <a:r>
              <a:rPr dirty="0"/>
              <a:t> </a:t>
            </a:r>
            <a:r>
              <a:rPr dirty="0" err="1"/>
              <a:t>certifié</a:t>
            </a:r>
            <a:r>
              <a:rPr dirty="0"/>
              <a:t> données de santé</a:t>
            </a:r>
          </a:p>
          <a:p>
            <a:pPr algn="l">
              <a:spcAft>
                <a:spcPts val="800"/>
              </a:spcAft>
              <a:defRPr sz="1350" b="0">
                <a:solidFill>
                  <a:srgbClr val="E8F4F8"/>
                </a:solidFill>
                <a:latin typeface="Segoe UI"/>
              </a:defRPr>
            </a:pPr>
            <a:r>
              <a:rPr dirty="0"/>
              <a:t>• </a:t>
            </a:r>
            <a:r>
              <a:rPr dirty="0" err="1"/>
              <a:t>Authentification</a:t>
            </a:r>
            <a:r>
              <a:rPr dirty="0"/>
              <a:t> </a:t>
            </a:r>
            <a:r>
              <a:rPr dirty="0" err="1"/>
              <a:t>complète</a:t>
            </a:r>
            <a:r>
              <a:rPr dirty="0"/>
              <a:t> : </a:t>
            </a:r>
            <a:r>
              <a:rPr dirty="0" err="1"/>
              <a:t>utilisateurs</a:t>
            </a:r>
            <a:r>
              <a:rPr dirty="0"/>
              <a:t>,</a:t>
            </a:r>
          </a:p>
          <a:p>
            <a:pPr algn="l">
              <a:spcAft>
                <a:spcPts val="800"/>
              </a:spcAft>
              <a:defRPr sz="1350" b="0">
                <a:solidFill>
                  <a:srgbClr val="E8F4F8"/>
                </a:solidFill>
                <a:latin typeface="Segoe UI"/>
              </a:defRPr>
            </a:pPr>
            <a:r>
              <a:rPr dirty="0"/>
              <a:t>   </a:t>
            </a:r>
            <a:r>
              <a:rPr dirty="0" err="1"/>
              <a:t>rôles</a:t>
            </a:r>
            <a:r>
              <a:rPr dirty="0"/>
              <a:t>, journal </a:t>
            </a:r>
            <a:r>
              <a:rPr dirty="0" err="1"/>
              <a:t>d'audit</a:t>
            </a:r>
            <a:endParaRPr dirty="0"/>
          </a:p>
          <a:p>
            <a:pPr algn="l">
              <a:spcAft>
                <a:spcPts val="800"/>
              </a:spcAft>
              <a:defRPr sz="1350" b="0">
                <a:solidFill>
                  <a:srgbClr val="E8F4F8"/>
                </a:solidFill>
                <a:latin typeface="Segoe UI"/>
              </a:defRPr>
            </a:pPr>
            <a:r>
              <a:rPr dirty="0"/>
              <a:t>• </a:t>
            </a:r>
            <a:r>
              <a:rPr dirty="0" err="1"/>
              <a:t>Chiffrement</a:t>
            </a:r>
            <a:r>
              <a:rPr dirty="0"/>
              <a:t> au repos et </a:t>
            </a:r>
            <a:r>
              <a:rPr dirty="0" err="1"/>
              <a:t>en</a:t>
            </a:r>
            <a:r>
              <a:rPr dirty="0"/>
              <a:t> transit</a:t>
            </a:r>
          </a:p>
          <a:p>
            <a:pPr algn="l">
              <a:spcAft>
                <a:spcPts val="800"/>
              </a:spcAft>
              <a:defRPr sz="1350" b="0">
                <a:solidFill>
                  <a:srgbClr val="E8F4F8"/>
                </a:solidFill>
                <a:latin typeface="Segoe UI"/>
              </a:defRPr>
            </a:pPr>
            <a:r>
              <a:rPr dirty="0"/>
              <a:t>• Validation </a:t>
            </a:r>
            <a:r>
              <a:rPr dirty="0" err="1"/>
              <a:t>clinique</a:t>
            </a:r>
            <a:r>
              <a:rPr dirty="0"/>
              <a:t> </a:t>
            </a:r>
            <a:r>
              <a:rPr dirty="0" err="1"/>
              <a:t>avant</a:t>
            </a:r>
            <a:r>
              <a:rPr dirty="0"/>
              <a:t> tout usage </a:t>
            </a:r>
            <a:r>
              <a:rPr dirty="0" err="1"/>
              <a:t>réel</a:t>
            </a:r>
            <a:r>
              <a:rPr dirty="0"/>
              <a:t> :</a:t>
            </a:r>
          </a:p>
          <a:p>
            <a:pPr algn="l">
              <a:spcAft>
                <a:spcPts val="800"/>
              </a:spcAft>
              <a:defRPr sz="1350" b="0">
                <a:solidFill>
                  <a:srgbClr val="E8F4F8"/>
                </a:solidFill>
                <a:latin typeface="Segoe UI"/>
              </a:defRPr>
            </a:pPr>
            <a:r>
              <a:rPr dirty="0"/>
              <a:t>   un RAG </a:t>
            </a:r>
            <a:r>
              <a:rPr dirty="0" err="1"/>
              <a:t>assiste</a:t>
            </a:r>
            <a:r>
              <a:rPr dirty="0"/>
              <a:t>, il ne </a:t>
            </a:r>
            <a:r>
              <a:rPr dirty="0" err="1"/>
              <a:t>diagnostique</a:t>
            </a:r>
            <a:r>
              <a:rPr dirty="0"/>
              <a:t> pas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92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50" b="0">
                <a:solidFill>
                  <a:srgbClr val="A8C4D0"/>
                </a:solidFill>
                <a:latin typeface="Segoe UI"/>
              </a:defRPr>
            </a:pPr>
            <a:r>
              <a:t>MedAssist — Projet LLMOps ·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50" b="0">
                <a:solidFill>
                  <a:srgbClr val="A8C4D0"/>
                </a:solidFill>
                <a:latin typeface="Segoe U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Stack technique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1554480" cy="41148"/>
          </a:xfrm>
          <a:prstGeom prst="rect">
            <a:avLst/>
          </a:prstGeom>
          <a:solidFill>
            <a:srgbClr val="7FB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2697480" cy="2057400"/>
          </a:xfrm>
          <a:prstGeom prst="roundRect">
            <a:avLst>
              <a:gd name="adj" fmla="val 8000"/>
            </a:avLst>
          </a:prstGeom>
          <a:solidFill>
            <a:srgbClr val="0D355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719072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50" b="1">
                <a:solidFill>
                  <a:srgbClr val="FFFFFF"/>
                </a:solidFill>
                <a:latin typeface="Segoe UI"/>
              </a:defRPr>
            </a:pPr>
            <a:r>
              <a:t>Claude (Anthropic)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21408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50" b="1">
                <a:solidFill>
                  <a:srgbClr val="7FB3C8"/>
                </a:solidFill>
                <a:latin typeface="Segoe UI"/>
              </a:defRPr>
            </a:pPr>
            <a:r>
              <a:t>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50591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A8C4D0"/>
                </a:solidFill>
                <a:latin typeface="Segoe UI"/>
              </a:defRPr>
            </a:pPr>
            <a:r>
              <a:t>Génération des réponses + juge RAGAS, via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3008" y="1554480"/>
            <a:ext cx="2697480" cy="2057400"/>
          </a:xfrm>
          <a:prstGeom prst="roundRect">
            <a:avLst>
              <a:gd name="adj" fmla="val 8000"/>
            </a:avLst>
          </a:prstGeom>
          <a:solidFill>
            <a:srgbClr val="0D355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75887" y="1719072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50" b="1">
                <a:solidFill>
                  <a:srgbClr val="FFFFFF"/>
                </a:solidFill>
                <a:latin typeface="Segoe UI"/>
              </a:defRPr>
            </a:pPr>
            <a:r>
              <a:t>Qdrant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5887" y="2121408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50" b="1">
                <a:solidFill>
                  <a:srgbClr val="7FB3C8"/>
                </a:solidFill>
                <a:latin typeface="Segoe UI"/>
              </a:defRPr>
            </a:pPr>
            <a:r>
              <a:t>Vector 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7" y="2450591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A8C4D0"/>
                </a:solidFill>
                <a:latin typeface="Segoe UI"/>
              </a:defRPr>
            </a:pPr>
            <a:r>
              <a:t>Recherche ANN des embeddings, filtrage par note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91656" y="1554480"/>
            <a:ext cx="2697480" cy="2057400"/>
          </a:xfrm>
          <a:prstGeom prst="roundRect">
            <a:avLst>
              <a:gd name="adj" fmla="val 8000"/>
            </a:avLst>
          </a:prstGeom>
          <a:solidFill>
            <a:srgbClr val="0D355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74536" y="1719072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50" b="1">
                <a:solidFill>
                  <a:srgbClr val="FFFFFF"/>
                </a:solidFill>
                <a:latin typeface="Segoe UI"/>
              </a:defRPr>
            </a:pPr>
            <a:r>
              <a:t>FastAPI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4536" y="2121408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50" b="1">
                <a:solidFill>
                  <a:srgbClr val="7FB3C8"/>
                </a:solidFill>
                <a:latin typeface="Segoe UI"/>
              </a:defRPr>
            </a:pPr>
            <a:r>
              <a:t>Backend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4536" y="2450591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A8C4D0"/>
                </a:solidFill>
                <a:latin typeface="Segoe UI"/>
              </a:defRPr>
            </a:pPr>
            <a:r>
              <a:t>REST + OpenAPI, clé API optionnelle, sert le frontend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90304" y="1554480"/>
            <a:ext cx="2697480" cy="2057400"/>
          </a:xfrm>
          <a:prstGeom prst="roundRect">
            <a:avLst>
              <a:gd name="adj" fmla="val 8000"/>
            </a:avLst>
          </a:prstGeom>
          <a:solidFill>
            <a:srgbClr val="0D355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73184" y="1719072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50" b="1">
                <a:solidFill>
                  <a:srgbClr val="FFFFFF"/>
                </a:solidFill>
                <a:latin typeface="Segoe UI"/>
              </a:defRPr>
            </a:pPr>
            <a:r>
              <a:t>React + Vite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73184" y="2121408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50" b="1">
                <a:solidFill>
                  <a:srgbClr val="7FB3C8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73184" y="2450591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A8C4D0"/>
                </a:solidFill>
                <a:latin typeface="Segoe UI"/>
              </a:defRPr>
            </a:pPr>
            <a:r>
              <a:t>Interface de gestion des dossiers médicaux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886200"/>
            <a:ext cx="2697480" cy="2057400"/>
          </a:xfrm>
          <a:prstGeom prst="roundRect">
            <a:avLst>
              <a:gd name="adj" fmla="val 8000"/>
            </a:avLst>
          </a:prstGeom>
          <a:solidFill>
            <a:srgbClr val="0D355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4050791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50" b="1">
                <a:solidFill>
                  <a:srgbClr val="FFFFFF"/>
                </a:solidFill>
                <a:latin typeface="Segoe UI"/>
              </a:defRPr>
            </a:pPr>
            <a:r>
              <a:t>MLflow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453128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50" b="1">
                <a:solidFill>
                  <a:srgbClr val="7FB3C8"/>
                </a:solidFill>
                <a:latin typeface="Segoe UI"/>
              </a:defRPr>
            </a:pPr>
            <a:r>
              <a:t>Tracking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782312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A8C4D0"/>
                </a:solidFill>
                <a:latin typeface="Segoe UI"/>
              </a:defRPr>
            </a:pPr>
            <a:r>
              <a:t>Métriques, runs, traces LLM (autolog LangChain)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93008" y="3886200"/>
            <a:ext cx="2697480" cy="2057400"/>
          </a:xfrm>
          <a:prstGeom prst="roundRect">
            <a:avLst>
              <a:gd name="adj" fmla="val 8000"/>
            </a:avLst>
          </a:prstGeom>
          <a:solidFill>
            <a:srgbClr val="0D355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75887" y="4050791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50" b="1">
                <a:solidFill>
                  <a:srgbClr val="FFFFFF"/>
                </a:solidFill>
                <a:latin typeface="Segoe UI"/>
              </a:defRPr>
            </a:pPr>
            <a:r>
              <a:t>DVC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75887" y="4453128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50" b="1">
                <a:solidFill>
                  <a:srgbClr val="7FB3C8"/>
                </a:solidFill>
                <a:latin typeface="Segoe UI"/>
              </a:defRPr>
            </a:pPr>
            <a:r>
              <a:t>Data Versioning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75887" y="4782312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A8C4D0"/>
                </a:solidFill>
                <a:latin typeface="Segoe UI"/>
              </a:defRPr>
            </a:pPr>
            <a:r>
              <a:t>Pipeline de données reproductible (ingest → embed)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91656" y="3886200"/>
            <a:ext cx="2697480" cy="2057400"/>
          </a:xfrm>
          <a:prstGeom prst="roundRect">
            <a:avLst>
              <a:gd name="adj" fmla="val 8000"/>
            </a:avLst>
          </a:prstGeom>
          <a:solidFill>
            <a:srgbClr val="0D355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74536" y="4050791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50" b="1">
                <a:solidFill>
                  <a:srgbClr val="FFFFFF"/>
                </a:solidFill>
                <a:latin typeface="Segoe UI"/>
              </a:defRPr>
            </a:pPr>
            <a:r>
              <a:t>Docker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74536" y="4453128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50" b="1">
                <a:solidFill>
                  <a:srgbClr val="7FB3C8"/>
                </a:solidFill>
                <a:latin typeface="Segoe UI"/>
              </a:defRPr>
            </a:pPr>
            <a:r>
              <a:t>Conteneurisation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74536" y="4782312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A8C4D0"/>
                </a:solidFill>
                <a:latin typeface="Segoe UI"/>
              </a:defRPr>
            </a:pPr>
            <a:r>
              <a:t>Build multi-étapes, docker-compose 3 services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90304" y="3886200"/>
            <a:ext cx="2697480" cy="2057400"/>
          </a:xfrm>
          <a:prstGeom prst="roundRect">
            <a:avLst>
              <a:gd name="adj" fmla="val 8000"/>
            </a:avLst>
          </a:prstGeom>
          <a:solidFill>
            <a:srgbClr val="0D355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473184" y="4050791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50" b="1">
                <a:solidFill>
                  <a:srgbClr val="FFFFFF"/>
                </a:solidFill>
                <a:latin typeface="Segoe UI"/>
              </a:defRPr>
            </a:pPr>
            <a:r>
              <a:t>GitHub Actions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73184" y="4453128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50" b="1">
                <a:solidFill>
                  <a:srgbClr val="7FB3C8"/>
                </a:solidFill>
                <a:latin typeface="Segoe UI"/>
              </a:defRPr>
            </a:pPr>
            <a:r>
              <a:t>CI/CD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73184" y="4782312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A8C4D0"/>
                </a:solidFill>
                <a:latin typeface="Segoe UI"/>
              </a:defRPr>
            </a:pPr>
            <a:r>
              <a:t>Lint + 38 tests pytest + build Docker à chaque push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492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50" b="0">
                <a:solidFill>
                  <a:srgbClr val="A8C4D0"/>
                </a:solidFill>
                <a:latin typeface="Segoe UI"/>
              </a:defRPr>
            </a:pPr>
            <a:r>
              <a:t>MedAssist — Projet LLMOps ·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50" b="0">
                <a:solidFill>
                  <a:srgbClr val="A8C4D0"/>
                </a:solidFill>
                <a:latin typeface="Segoe U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Démonstration — requête réelle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1554480" cy="41148"/>
          </a:xfrm>
          <a:prstGeom prst="rect">
            <a:avLst/>
          </a:prstGeom>
          <a:solidFill>
            <a:srgbClr val="7FB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1018520" cy="6858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Requête : « Quel était le motif d'admission de ce patient ? »  —  dossier note_00000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606040"/>
            <a:ext cx="2514600" cy="1325880"/>
          </a:xfrm>
          <a:prstGeom prst="roundRect">
            <a:avLst>
              <a:gd name="adj" fmla="val 8000"/>
            </a:avLst>
          </a:prstGeom>
          <a:solidFill>
            <a:srgbClr val="0D355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705356" y="2386584"/>
            <a:ext cx="347472" cy="347472"/>
          </a:xfrm>
          <a:prstGeom prst="ellipse">
            <a:avLst/>
          </a:prstGeom>
          <a:solidFill>
            <a:srgbClr val="7FB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21526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7889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Embedding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172968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0">
                <a:solidFill>
                  <a:srgbClr val="A8C4D0"/>
                </a:solidFill>
                <a:latin typeface="Segoe UI"/>
              </a:defRPr>
            </a:pPr>
            <a:r>
              <a:t>all-MiniLM-L6-v2</a:t>
            </a:r>
          </a:p>
          <a:p>
            <a:pPr algn="ctr">
              <a:spcAft>
                <a:spcPts val="200"/>
              </a:spcAft>
              <a:defRPr sz="1100" b="0">
                <a:solidFill>
                  <a:srgbClr val="A8C4D0"/>
                </a:solidFill>
                <a:latin typeface="Segoe UI"/>
              </a:defRPr>
            </a:pPr>
            <a:r>
              <a:t>384 dimensions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108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1">
                <a:solidFill>
                  <a:srgbClr val="7FB3C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2606040"/>
            <a:ext cx="2514600" cy="1325880"/>
          </a:xfrm>
          <a:prstGeom prst="roundRect">
            <a:avLst>
              <a:gd name="adj" fmla="val 8000"/>
            </a:avLst>
          </a:prstGeom>
          <a:solidFill>
            <a:srgbClr val="0D355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58284" y="2386584"/>
            <a:ext cx="347472" cy="347472"/>
          </a:xfrm>
          <a:prstGeom prst="ellipse">
            <a:avLst/>
          </a:prstGeom>
          <a:solidFill>
            <a:srgbClr val="7FB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21526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7889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Retrieval Qdrant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172968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0">
                <a:solidFill>
                  <a:srgbClr val="A8C4D0"/>
                </a:solidFill>
                <a:latin typeface="Segoe UI"/>
              </a:defRPr>
            </a:pPr>
            <a:r>
              <a:t>Top-k chunks</a:t>
            </a:r>
          </a:p>
          <a:p>
            <a:pPr algn="ctr">
              <a:spcAft>
                <a:spcPts val="200"/>
              </a:spcAft>
              <a:defRPr sz="1100" b="0">
                <a:solidFill>
                  <a:srgbClr val="A8C4D0"/>
                </a:solidFill>
                <a:latin typeface="Segoe UI"/>
              </a:defRPr>
            </a:pPr>
            <a:r>
              <a:t>filtre note_id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53328" y="3108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1">
                <a:solidFill>
                  <a:srgbClr val="7FB3C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2606040"/>
            <a:ext cx="2514600" cy="1325880"/>
          </a:xfrm>
          <a:prstGeom prst="roundRect">
            <a:avLst>
              <a:gd name="adj" fmla="val 8000"/>
            </a:avLst>
          </a:prstGeom>
          <a:solidFill>
            <a:srgbClr val="0D355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411212" y="2386584"/>
            <a:ext cx="347472" cy="347472"/>
          </a:xfrm>
          <a:prstGeom prst="ellipse">
            <a:avLst/>
          </a:prstGeom>
          <a:solidFill>
            <a:srgbClr val="7FB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21526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7889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Génération Claude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172968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0">
                <a:solidFill>
                  <a:srgbClr val="A8C4D0"/>
                </a:solidFill>
                <a:latin typeface="Segoe UI"/>
              </a:defRPr>
            </a:pPr>
            <a:r>
              <a:t>Haiku 4.5 · prompt</a:t>
            </a:r>
          </a:p>
          <a:p>
            <a:pPr algn="ctr">
              <a:spcAft>
                <a:spcPts val="200"/>
              </a:spcAft>
              <a:defRPr sz="1100" b="0">
                <a:solidFill>
                  <a:srgbClr val="A8C4D0"/>
                </a:solidFill>
                <a:latin typeface="Segoe UI"/>
              </a:defRPr>
            </a:pPr>
            <a:r>
              <a:t>anti-hallucination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06256" y="3108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1">
                <a:solidFill>
                  <a:srgbClr val="7FB3C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0576" y="2606040"/>
            <a:ext cx="2514600" cy="1325880"/>
          </a:xfrm>
          <a:prstGeom prst="roundRect">
            <a:avLst>
              <a:gd name="adj" fmla="val 8000"/>
            </a:avLst>
          </a:prstGeom>
          <a:solidFill>
            <a:srgbClr val="0D355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264140" y="2386584"/>
            <a:ext cx="347472" cy="347472"/>
          </a:xfrm>
          <a:prstGeom prst="ellipse">
            <a:avLst/>
          </a:prstGeom>
          <a:solidFill>
            <a:srgbClr val="7FB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21526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72015" y="27889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Réponse sourcée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72015" y="3172968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0">
                <a:solidFill>
                  <a:srgbClr val="A8C4D0"/>
                </a:solidFill>
                <a:latin typeface="Segoe UI"/>
              </a:defRPr>
            </a:pPr>
            <a:r>
              <a:t>Citations note_id</a:t>
            </a:r>
          </a:p>
          <a:p>
            <a:pPr algn="ctr">
              <a:spcAft>
                <a:spcPts val="200"/>
              </a:spcAft>
              <a:defRPr sz="1100" b="0">
                <a:solidFill>
                  <a:srgbClr val="A8C4D0"/>
                </a:solidFill>
                <a:latin typeface="Segoe UI"/>
              </a:defRPr>
            </a:pPr>
            <a:r>
              <a:t>~3 s, tracée MLflow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343400"/>
            <a:ext cx="11018520" cy="1737360"/>
          </a:xfrm>
          <a:prstGeom prst="roundRect">
            <a:avLst>
              <a:gd name="adj" fmla="val 8000"/>
            </a:avLst>
          </a:prstGeom>
          <a:solidFill>
            <a:srgbClr val="0D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452628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50" b="0">
                <a:solidFill>
                  <a:srgbClr val="E8F4F8"/>
                </a:solidFill>
                <a:latin typeface="Segoe UI"/>
              </a:defRPr>
            </a:pPr>
            <a:r>
              <a:t>Réponse réelle : « Selon les notes cliniques disponibles (note_00000), le patient a été admis avec fièvre, toux sèche et dyspnée. […] le diagnostic final était un ARDS (syndrome de détresse respiratoire aiguë) secondaire à une infection par COVID-19. »</a:t>
            </a:r>
          </a:p>
          <a:p>
            <a:pPr algn="l">
              <a:spcAft>
                <a:spcPts val="400"/>
              </a:spcAft>
              <a:defRPr sz="1350" b="0">
                <a:solidFill>
                  <a:srgbClr val="E8F4F8"/>
                </a:solidFill>
                <a:latin typeface="Segoe UI"/>
              </a:defRPr>
            </a:pPr>
            <a:r>
              <a:t>Sources citées : note_00000   ·   Si l'information est absente du dossier, l'assistant le dit explicitement.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92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50" b="0">
                <a:solidFill>
                  <a:srgbClr val="A8C4D0"/>
                </a:solidFill>
                <a:latin typeface="Segoe UI"/>
              </a:defRPr>
            </a:pPr>
            <a:r>
              <a:t>MedAssist — Projet LLMOps ·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50" b="0">
                <a:solidFill>
                  <a:srgbClr val="A8C4D0"/>
                </a:solidFill>
                <a:latin typeface="Segoe U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Conclusion &amp; Perspectives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1554480" cy="41148"/>
          </a:xfrm>
          <a:prstGeom prst="rect">
            <a:avLst/>
          </a:prstGeom>
          <a:solidFill>
            <a:srgbClr val="7FB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5394960" cy="4114800"/>
          </a:xfrm>
          <a:prstGeom prst="roundRect">
            <a:avLst>
              <a:gd name="adj" fmla="val 8000"/>
            </a:avLst>
          </a:prstGeom>
          <a:solidFill>
            <a:srgbClr val="0D355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7FB3C8"/>
                </a:solidFill>
                <a:latin typeface="Segoe UI"/>
              </a:defRPr>
            </a:pPr>
            <a:r>
              <a:t>BILAN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400" b="0">
                <a:solidFill>
                  <a:srgbClr val="E8F4F8"/>
                </a:solidFill>
                <a:latin typeface="Segoe UI"/>
              </a:defRPr>
            </a:pPr>
            <a:r>
              <a:t>• Pipeline RAG complet et fonctionnel, réponses sourcées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E8F4F8"/>
                </a:solidFill>
                <a:latin typeface="Segoe UI"/>
              </a:defRPr>
            </a:pPr>
            <a:r>
              <a:t>• Interface React type gestion de dossiers médicaux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E8F4F8"/>
                </a:solidFill>
                <a:latin typeface="Segoe UI"/>
              </a:defRPr>
            </a:pPr>
            <a:r>
              <a:t>• Faithfulness 0.75 — métriques honnêtes, juge auditable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E8F4F8"/>
                </a:solidFill>
                <a:latin typeface="Segoe UI"/>
              </a:defRPr>
            </a:pPr>
            <a:r>
              <a:t>• 38 tests, CI/CD, Docker, DVC : reproductible de bout en bout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E8F4F8"/>
                </a:solidFill>
                <a:latin typeface="Segoe UI"/>
              </a:defRPr>
            </a:pPr>
            <a:r>
              <a:t>• Boucle LLMOps complète : monitoring, évaluation, amélioration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394960" cy="4114800"/>
          </a:xfrm>
          <a:prstGeom prst="roundRect">
            <a:avLst>
              <a:gd name="adj" fmla="val 8000"/>
            </a:avLst>
          </a:prstGeom>
          <a:solidFill>
            <a:srgbClr val="0D3552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7FB3C8"/>
                </a:solidFill>
                <a:latin typeface="Segoe UI"/>
              </a:defRPr>
            </a:pPr>
            <a:r>
              <a:t>PERSPECTIVES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400" b="0">
                <a:solidFill>
                  <a:srgbClr val="E8F4F8"/>
                </a:solidFill>
                <a:latin typeface="Segoe UI"/>
              </a:defRPr>
            </a:pPr>
            <a:r>
              <a:t>• Embeddings biomédicaux / multilingues (réponse dans la langue de la question)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E8F4F8"/>
                </a:solidFill>
                <a:latin typeface="Segoe UI"/>
              </a:defRPr>
            </a:pPr>
            <a:r>
              <a:t>• Évaluation RAGAS étendue et automatisée en CI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E8F4F8"/>
                </a:solidFill>
                <a:latin typeface="Segoe UI"/>
              </a:defRPr>
            </a:pPr>
            <a:r>
              <a:t>• Conformité RGPD et anonymisation renforcée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E8F4F8"/>
                </a:solidFill>
                <a:latin typeface="Segoe UI"/>
              </a:defRPr>
            </a:pPr>
            <a:r>
              <a:t>• Multi-modal : imagerie + texte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E8F4F8"/>
                </a:solidFill>
                <a:latin typeface="Segoe UI"/>
              </a:defRPr>
            </a:pPr>
            <a:r>
              <a:t>• Déploiement cloud avec auto-scaling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943600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Merci pour </a:t>
            </a:r>
            <a:r>
              <a:rPr dirty="0" err="1"/>
              <a:t>votre</a:t>
            </a:r>
            <a:r>
              <a:rPr dirty="0"/>
              <a:t> attention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92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50" b="0">
                <a:solidFill>
                  <a:srgbClr val="A8C4D0"/>
                </a:solidFill>
                <a:latin typeface="Segoe UI"/>
              </a:defRPr>
            </a:pPr>
            <a:r>
              <a:t>MedAssist — Projet LLMOps ·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50" b="0">
                <a:solidFill>
                  <a:srgbClr val="A8C4D0"/>
                </a:solidFill>
                <a:latin typeface="Segoe UI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1791</Words>
  <Application>Microsoft Office PowerPoint</Application>
  <PresentationFormat>Grand écran</PresentationFormat>
  <Paragraphs>331</Paragraphs>
  <Slides>20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Mouhamed Diop</cp:lastModifiedBy>
  <cp:revision>12</cp:revision>
  <dcterms:created xsi:type="dcterms:W3CDTF">2013-01-27T09:14:16Z</dcterms:created>
  <dcterms:modified xsi:type="dcterms:W3CDTF">2026-06-10T20:08:37Z</dcterms:modified>
  <cp:category/>
</cp:coreProperties>
</file>